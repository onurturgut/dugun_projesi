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developers.cloudflare.com/r2/pricing/" TargetMode="External"/><Relationship Id="rId2" Type="http://schemas.openxmlformats.org/officeDocument/2006/relationships/hyperlink" Target="https://vercel.com/docs/pricing/regional-pricing/fra1" TargetMode="External"/><Relationship Id="rId3" Type="http://schemas.openxmlformats.org/officeDocument/2006/relationships/hyperlink" Target="https://cdn.gib.gov.tr/api/gibportal-file/file/getFileResources?objectKey=arsiv%2Fyardim-kaynaklar%2Fyararli-bilgiler%2Fgelir-vergisi-tarifeleri%2Fgelir-vergisi-tarifesi-2026.pdf" TargetMode="External"/><Relationship Id="rId4" Type="http://schemas.openxmlformats.org/officeDocument/2006/relationships/hyperlink" Target="https://cdn.gib.gov.tr/api/gibportal-file/file/getFile?objectKey=DUYURU%2FUNIVERSAL%2F2026%2F2026_Kurumlar_Vergisi_Beyan_Rehberi.pdf" TargetMode="External"/><Relationship Id="rId5" Type="http://schemas.openxmlformats.org/officeDocument/2006/relationships/hyperlink" Target="https://intvrg.gib.gov.tr/hazirbeyan/assets/pdf/DUYURU_UNIVERSAL_2026_2026_menkulsermayeiradi.pdf" TargetMode="External"/><Relationship Id="rId6" Type="http://schemas.openxmlformats.org/officeDocument/2006/relationships/image" Target="../media/image-8-1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1471017"/>
            <a:ext cx="3973810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4" name="Text 1"/>
          <p:cNvSpPr/>
          <p:nvPr/>
        </p:nvSpPr>
        <p:spPr>
          <a:xfrm>
            <a:off x="774879" y="1527671"/>
            <a:ext cx="435658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İÇ KULLANIM · PARTNER SUNUMUNA DAHİL EDİLMEZ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1833761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ANILAR — Finansal Karar Dosyası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61475" y="3298527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Eylül 2026 · 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%70 platform / %30 işletme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Karşılaştırılan KDV dahil müşteri fiyatları: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3.750 / 5.000 / 6.250 TL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475" y="4328616"/>
            <a:ext cx="6296860" cy="1058366"/>
          </a:xfrm>
          <a:prstGeom prst="roundRect">
            <a:avLst>
              <a:gd name="adj" fmla="val 7501"/>
            </a:avLst>
          </a:prstGeom>
          <a:solidFill>
            <a:srgbClr val="FCF2B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82" y="4596309"/>
            <a:ext cx="236234" cy="1890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75723" y="4564856"/>
            <a:ext cx="54936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Senaryo bütçesidir; gerçekleşmiş sonuç veya kesin net kâr değildir.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2684"/>
            <a:ext cx="869531" cy="215305"/>
          </a:xfrm>
          <a:prstGeom prst="roundRect">
            <a:avLst>
              <a:gd name="adj" fmla="val 22123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6503" y="565150"/>
            <a:ext cx="130905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spc="-22" kern="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İÇ KULLANIM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780455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spc="-8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Modelin Dayanakları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661475" y="2092722"/>
            <a:ext cx="3579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Kullanıcı Kararları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61475" y="2420441"/>
            <a:ext cx="3579227" cy="868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KDV hariç satışın </a:t>
            </a:r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b="1" spc="-2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%70'i platforma</a:t>
            </a:r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b="1" spc="-2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%30'u işletmeye</a:t>
            </a:r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ayrılır.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QR baskısı birim bedeli </a:t>
            </a:r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b="1" spc="-2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12,50 TL</a:t>
            </a:r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Baskı dahil tüm hizmet giderleri platforma aittir.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1475" y="3394869"/>
            <a:ext cx="3579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Hesap Varsayımları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61475" y="3722588"/>
            <a:ext cx="3579227" cy="1971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Organizasyon başına 20 baskı = 250 TL; adet henüz onaylanmadı.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Baskı dışı değişken bütçe 510 TL; toplam 760 TL.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Yıllık sabit bütçe 224.000 TL.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%20 KDV; planlama kuru 50 TL/USD; 3 ay saklama.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Yaklaşık 10 GB medya, 30 GB toplam görüntüleme/indirme trafiği; ölçülmüş kullanım değildir.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Üç fiyat aynı hizmet kapsamıyla karşılaştırılır.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2919" y="1502470"/>
            <a:ext cx="6943551" cy="393471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92919" y="5556746"/>
            <a:ext cx="6943551" cy="659011"/>
          </a:xfrm>
          <a:prstGeom prst="roundRect">
            <a:avLst>
              <a:gd name="adj" fmla="val 9035"/>
            </a:avLst>
          </a:prstGeom>
          <a:solidFill>
            <a:srgbClr val="FCF2B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600" y="5726807"/>
            <a:ext cx="177200" cy="1416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53481" y="5687814"/>
            <a:ext cx="6341309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Kargo, ambalaj, ödeme komisyonu ve tahsilat kaybı fiyatlanmadı. Varsa tamamı platform maliyetine eklenecek. Kuruluş, ilk geliştirme yatırımı ve tam zamanlı kurucu maaşı dahil değil.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94122"/>
            <a:ext cx="923505" cy="228898"/>
          </a:xfrm>
          <a:prstGeom prst="roundRect">
            <a:avLst>
              <a:gd name="adj" fmla="val 22110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1762" y="639266"/>
            <a:ext cx="1352516" cy="13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spc="-24" kern="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İÇ KULLANIM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870942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spc="-8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Maliyet Bütçesi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61475" y="1641475"/>
            <a:ext cx="5250624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Organizasyon Başına Değişken Bütçe</a:t>
            </a:r>
            <a:endParaRPr lang="en-US" sz="14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011759"/>
          <a:ext cx="9143771" cy="914400"/>
        </p:xfrm>
        <a:graphic>
          <a:graphicData uri="http://schemas.openxmlformats.org/drawingml/2006/table">
            <a:tbl>
              <a:tblPr/>
              <a:tblGrid>
                <a:gridCol w="3675437"/>
                <a:gridCol w="1575187"/>
              </a:tblGrid>
              <a:tr h="3762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spc="-24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Kalem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spc="-24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TL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spc="-24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Saklama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spc="-24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22,50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spc="-24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Depolama işlemleri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spc="-24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0,29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spc="-24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Medya trafiği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spc="-24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315,00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spc="-24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İşlem gücü ve istekler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spc="-24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4,96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spc="-24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Destek emeği, 20 dakika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spc="-24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100,00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spc="-24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Rezerv ve yuvarlama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spc="-24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67,25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spc="-24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 QR baskısı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spc="-24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250,00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2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spc="-24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Toplam değişken bütçe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spc="-24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760,00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285946" y="1641475"/>
            <a:ext cx="5250624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Yıllık Sabit Bütçe (224.000 TL)</a:t>
            </a:r>
            <a:endParaRPr lang="en-US" sz="145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5946" y="2011759"/>
          <a:ext cx="9143771" cy="914400"/>
        </p:xfrm>
        <a:graphic>
          <a:graphicData uri="http://schemas.openxmlformats.org/drawingml/2006/table">
            <a:tbl>
              <a:tblPr/>
              <a:tblGrid>
                <a:gridCol w="3675437"/>
                <a:gridCol w="1575187"/>
              </a:tblGrid>
              <a:tr h="3762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spc="-24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Kalem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spc="-24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TL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spc="-24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Platform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spc="-24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12.000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spc="-24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Veritabanı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spc="-24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18.000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spc="-24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İzleme / bakım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spc="-24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3.000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spc="-24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Alan adı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spc="-24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1.000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spc="-24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Partner edinme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spc="-24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10.000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spc="-24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Şirket gideri (aylık 15.000 TL)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spc="-24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180.000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2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spc="-24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Toplam sabit bütçe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spc="-24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224.000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285946" y="5188347"/>
            <a:ext cx="5250624" cy="940594"/>
          </a:xfrm>
          <a:prstGeom prst="roundRect">
            <a:avLst>
              <a:gd name="adj" fmla="val 6726"/>
            </a:avLst>
          </a:prstGeom>
          <a:solidFill>
            <a:srgbClr val="DADBF1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6556" y="5372795"/>
            <a:ext cx="188213" cy="15061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75380" y="5333901"/>
            <a:ext cx="4610580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Sabit bütçe tüm işletmeye aittir; partner başına tekrar eklenmez. Ücretsiz kullanım hakları ve krediler düşülmemiştir; fatura tahmini değildir.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0288"/>
            <a:ext cx="995834" cy="246856"/>
          </a:xfrm>
          <a:prstGeom prst="roundRect">
            <a:avLst>
              <a:gd name="adj" fmla="val 22110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05" y="609005"/>
            <a:ext cx="1410558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spc="-26" kern="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İÇ KULLANIM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62905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b="1" spc="-9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Birim Ekonomi ve Başabaş</a:t>
            </a:r>
            <a:endParaRPr lang="en-US" sz="3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579860"/>
          <a:ext cx="9143771" cy="914400"/>
        </p:xfrm>
        <a:graphic>
          <a:graphicData uri="http://schemas.openxmlformats.org/drawingml/2006/table">
            <a:tbl>
              <a:tblPr/>
              <a:tblGrid>
                <a:gridCol w="4347498"/>
                <a:gridCol w="2173749"/>
                <a:gridCol w="2173749"/>
                <a:gridCol w="2173749"/>
              </a:tblGrid>
              <a:tr h="4249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spc="-26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Kalem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spc="-26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3.750 TL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spc="-26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5.000 TL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spc="-26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6.250 TL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281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KDV dahil müşteri fiyatı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3.750,00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5.000,00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6.250,00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1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KDV hariç satış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3.125,00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4.166,67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5.208,33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1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İşletmenin %30 payı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937,50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1.250,00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1.562,50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1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Platformun %70 payı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2.187,50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2.916,67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3.645,83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1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Değişken bütçe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760,00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760,00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760,00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1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Sabit gider öncesi katkı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1.427,50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2.156,67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2.885,83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49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Yıllık başabaş satış adedi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157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104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78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61475" y="5293816"/>
            <a:ext cx="5236238" cy="608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spcAft>
                <a:spcPts val="950"/>
              </a:spcAft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Başabaş = tavan(224.000 / katkı).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Yıllık sonuç = satış adedi × katkı − 224.000.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300332" y="5325170"/>
            <a:ext cx="5236238" cy="815578"/>
          </a:xfrm>
          <a:prstGeom prst="roundRect">
            <a:avLst>
              <a:gd name="adj" fmla="val 8365"/>
            </a:avLst>
          </a:prstGeom>
          <a:solidFill>
            <a:srgbClr val="FCF2B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2749" y="5540871"/>
            <a:ext cx="202996" cy="1624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28163" y="5491361"/>
            <a:ext cx="4545990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spc="-26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Tutarlar TL; vergi öncesi. Yuvarlanmamış değerlerle hesaplandı.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9552"/>
            <a:ext cx="977578" cy="242292"/>
          </a:xfrm>
          <a:prstGeom prst="roundRect">
            <a:avLst>
              <a:gd name="adj" fmla="val 22117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7119" y="587375"/>
            <a:ext cx="1395874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spc="-25" kern="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İÇ KULLANIM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35620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b="1" spc="-9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Yıllık Platform Sonucu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61475" y="1535807"/>
            <a:ext cx="1147833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İşletme payı, değişken bütçe ve sabit bütçe sonrası; gelir/kurumlar vergisi ve fiyatlanmamış giderler öncesi.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922264"/>
          <a:ext cx="9143771" cy="914400"/>
        </p:xfrm>
        <a:graphic>
          <a:graphicData uri="http://schemas.openxmlformats.org/drawingml/2006/table">
            <a:tbl>
              <a:tblPr/>
              <a:tblGrid>
                <a:gridCol w="2717186"/>
                <a:gridCol w="2717186"/>
                <a:gridCol w="2717186"/>
                <a:gridCol w="2717186"/>
              </a:tblGrid>
              <a:tr h="4123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spc="-25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Ücretli Satış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spc="-25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3.750 TL Fiyat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spc="-25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5.000 TL Fiyat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spc="-25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6.250 TL Fiyat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55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−81.250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−8.333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64.583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5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−9.875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99.500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208.875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5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61.500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207.333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353.167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5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250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132.875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315.167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497.458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5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204.250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423.000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641.750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3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489.750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854.333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1.218.917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61475" y="5109666"/>
            <a:ext cx="5239810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Tüm tutarlar TL. Aynı kullanım, fiyat ve sabit kapasite varsayımı; büyümede ek personel/altyapı gereksinimi test edilmedi.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Aylık nakit akışı değildir.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96760" y="5139928"/>
            <a:ext cx="5239810" cy="1027113"/>
          </a:xfrm>
          <a:prstGeom prst="roundRect">
            <a:avLst>
              <a:gd name="adj" fmla="val 6522"/>
            </a:avLst>
          </a:prstGeom>
          <a:solidFill>
            <a:srgbClr val="DADBF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6201" y="5346105"/>
            <a:ext cx="199325" cy="15944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14967" y="5300762"/>
            <a:ext cx="4562162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250 satışta KDV hariç toplam müşteri gelirine göre vergi öncesi bütçe fazlası oranı: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spc="-2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%17,0 / %30,3 / %38,2</a:t>
            </a:r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Bu oran %70 gelir payından farklıdır.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2089"/>
            <a:ext cx="101408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571698"/>
            <a:ext cx="1425242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spc="-26" kern="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İÇ KULLANIM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3135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spc="-9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 Partner × 50 Satış: Yıllık Örnek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1565077"/>
            <a:ext cx="1147833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Müşteri fiyatı </a:t>
            </a:r>
            <a:pPr algn="l" indent="0" marL="0">
              <a:lnSpc>
                <a:spcPct val="125000"/>
              </a:lnSpc>
              <a:buNone/>
            </a:pPr>
            <a:r>
              <a:rPr lang="en-US" sz="1300" b="1" spc="-2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5.000 TL</a:t>
            </a:r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toplam </a:t>
            </a:r>
            <a:pPr algn="l" indent="0" marL="0">
              <a:lnSpc>
                <a:spcPct val="125000"/>
              </a:lnSpc>
              <a:buNone/>
            </a:pPr>
            <a:r>
              <a:rPr lang="en-US" sz="1300" b="1" spc="-2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250 ücretli organizasyon</a:t>
            </a:r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138561"/>
          <a:ext cx="9143771" cy="914400"/>
        </p:xfrm>
        <a:graphic>
          <a:graphicData uri="http://schemas.openxmlformats.org/drawingml/2006/table">
            <a:tbl>
              <a:tblPr/>
              <a:tblGrid>
                <a:gridCol w="3662866"/>
                <a:gridCol w="1569800"/>
              </a:tblGrid>
              <a:tr h="4375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Kalem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07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KDV dahil müşteri tahsilatı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1.250.000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07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KDV hariç satış geliri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1.041.667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07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İşletmelere toplam %30 pay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−312.500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07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Değişken bütçe: 250 × 760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−190.000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07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Sabit bütçe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−224.000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5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Platforma kalan, vergi öncesi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-26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315.167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303904" y="212050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Temel Göstergeler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303904" y="2541687"/>
            <a:ext cx="2544004" cy="1242516"/>
          </a:xfrm>
          <a:prstGeom prst="roundRect">
            <a:avLst>
              <a:gd name="adj" fmla="val 559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75548" y="2713335"/>
            <a:ext cx="220071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Partner Payı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75548" y="3116461"/>
            <a:ext cx="220071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62.500 TL/yıl (kendi vergileri öncesi)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992566" y="2541687"/>
            <a:ext cx="2544004" cy="1242516"/>
          </a:xfrm>
          <a:prstGeom prst="roundRect">
            <a:avLst>
              <a:gd name="adj" fmla="val 559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64210" y="2713335"/>
            <a:ext cx="220071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Org. Başına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164210" y="3116461"/>
            <a:ext cx="2200716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1.261 TL platform sonucu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303904" y="3928864"/>
            <a:ext cx="5232666" cy="994470"/>
          </a:xfrm>
          <a:prstGeom prst="roundRect">
            <a:avLst>
              <a:gd name="adj" fmla="val 698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75548" y="4100513"/>
            <a:ext cx="488937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Aylık Ort.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75548" y="4503638"/>
            <a:ext cx="488937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26.264 TL (nakit garantisi değil)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303904" y="5086052"/>
            <a:ext cx="5232666" cy="1087041"/>
          </a:xfrm>
          <a:prstGeom prst="roundRect">
            <a:avLst>
              <a:gd name="adj" fmla="val 6390"/>
            </a:avLst>
          </a:prstGeom>
          <a:solidFill>
            <a:srgbClr val="FCF2B5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9198" y="5311477"/>
            <a:ext cx="206667" cy="16529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841160" y="5257502"/>
            <a:ext cx="4530116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Hassasiyet: org. başına her ek 100 TL gider yıllık sonucu 25.000 TL azaltır. 10 ek QR baskısı = 125 TL/org.; 250 satışta 31.250 TL azalma.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45319"/>
            <a:ext cx="960017" cy="237827"/>
          </a:xfrm>
          <a:prstGeom prst="roundRect">
            <a:avLst>
              <a:gd name="adj" fmla="val 22115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5333" y="692249"/>
            <a:ext cx="1381884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spc="-25" kern="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İÇ KULLANIM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934938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spc="-9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Vergi: Şirket Türüne Göre İki Ayrı Örnek</a:t>
            </a:r>
            <a:endParaRPr lang="en-US" sz="3050" dirty="0"/>
          </a:p>
        </p:txBody>
      </p:sp>
      <p:sp>
        <p:nvSpPr>
          <p:cNvPr id="5" name="Shape 3"/>
          <p:cNvSpPr/>
          <p:nvPr/>
        </p:nvSpPr>
        <p:spPr>
          <a:xfrm>
            <a:off x="661475" y="1618456"/>
            <a:ext cx="10868745" cy="782141"/>
          </a:xfrm>
          <a:prstGeom prst="roundRect">
            <a:avLst>
              <a:gd name="adj" fmla="val 8406"/>
            </a:avLst>
          </a:prstGeom>
          <a:solidFill>
            <a:srgbClr val="FFB3B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939" y="1802606"/>
            <a:ext cx="195654" cy="1564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057" y="1787128"/>
            <a:ext cx="10203699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spc="-25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 bir net kazanç tahmini değildir. Matrah, belgeli giderlerle ayrıca hesaplanmalıdır. Varsayımsal matrah koşulu: 315.166,67 TL'nin vergi matrahına eşit olduğu, başka gelir/istisna/indirim olmadığı varsayılmıştır.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61475" y="2675930"/>
            <a:ext cx="524348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2026 Ticari Kazanç Gelir Vergisi Dilimleri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3066256"/>
          <a:ext cx="9143771" cy="914400"/>
        </p:xfrm>
        <a:graphic>
          <a:graphicData uri="http://schemas.openxmlformats.org/drawingml/2006/table">
            <a:tbl>
              <a:tblPr/>
              <a:tblGrid>
                <a:gridCol w="3146088"/>
                <a:gridCol w="2097392"/>
              </a:tblGrid>
              <a:tr h="400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Dilim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Oran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3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İlk 190.000 TL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%15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3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190.000 – 400.000 TL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%20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3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400.000 – 1.000.000 TL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%27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3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1.000.000 – 5.300.000 TL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%35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5.300.000 TL üzeri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%40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61475" y="5638304"/>
            <a:ext cx="5243481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Yalnızca ilgili dilimdeki kısma uygulanır. Limited/AŞ genel kurumlar vergisi: </a:t>
            </a:r>
            <a:pPr algn="l" indent="0" marL="0">
              <a:lnSpc>
                <a:spcPct val="122000"/>
              </a:lnSpc>
              <a:buNone/>
            </a:pPr>
            <a:r>
              <a:rPr lang="en-US" sz="120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%25</a:t>
            </a:r>
            <a:pPr algn="l" indent="0" marL="0">
              <a:lnSpc>
                <a:spcPct val="122000"/>
              </a:lnSpc>
              <a:buNone/>
            </a:pPr>
            <a:r>
              <a:rPr lang="en-US" sz="12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293089" y="2675930"/>
            <a:ext cx="524348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315.167 TL Matrah Üzerinden Karşılaştırma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3089" y="3066256"/>
          <a:ext cx="9143771" cy="914400"/>
        </p:xfrm>
        <a:graphic>
          <a:graphicData uri="http://schemas.openxmlformats.org/drawingml/2006/table">
            <a:tbl>
              <a:tblPr/>
              <a:tblGrid>
                <a:gridCol w="2097392"/>
                <a:gridCol w="1573044"/>
                <a:gridCol w="1573044"/>
              </a:tblGrid>
              <a:tr h="400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spc="-25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Hesap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spc="-25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Şahıs İşletmesi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spc="-25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Limited/AŞ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033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Varsayılan matrah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315.167 TL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315.167 TL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3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Gelir/kurumlar vergisi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53.533 TL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78.792 TL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 vergiden sonra kalan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261.633 TL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spc="-2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236.375 TL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6293089" y="4831655"/>
            <a:ext cx="5243481" cy="1261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12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Limited/AŞ'de kalan para şirkettedir. Gerçek kişi ortağa dağıtımda genel olarak </a:t>
            </a:r>
            <a:pPr algn="l"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120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%15 stopaj</a:t>
            </a:r>
            <a:pPr algn="l"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12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ve koşullara göre kişisel beyan/mahsup değerlendirilir.</a:t>
            </a:r>
            <a:endParaRPr lang="en-US" sz="12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Harcanmamış rezerv ve kurucunun kendi emeğine biçilen bedel otomatik indirilebilir gider değildir. Eski iş planında şahıs işletmesi hedefi vardır; mevcut kuruluş durumu teyitsizdir. Kişisel teşvik uygunluğu hesaplanmadı.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2011"/>
            <a:ext cx="941066" cy="233263"/>
          </a:xfrm>
          <a:prstGeom prst="roundRect">
            <a:avLst>
              <a:gd name="adj" fmla="val 22122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3548" y="578048"/>
            <a:ext cx="1366506" cy="141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spc="-24" kern="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İÇ KULLANIM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15181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spc="-9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Görüşme Öncesi Kararlar ve Kaynaklar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61475" y="1606947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Kesinleştirilecekler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1475" y="1987153"/>
            <a:ext cx="345471" cy="345480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9070" y="2015927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spc="-5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31661" y="2039938"/>
            <a:ext cx="477686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Baskı varsayımı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31661" y="2404566"/>
            <a:ext cx="477686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baskı varsayımı, ek baskı bedeli ve teslimat maliyeti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1475" y="2876748"/>
            <a:ext cx="345471" cy="345480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9070" y="2905522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spc="-5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31661" y="2929533"/>
            <a:ext cx="477686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Fatura ve tahsilat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31661" y="3294162"/>
            <a:ext cx="477686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Müşteri faturasını kesen taraf, komisyon belgesi ve tahsilat düzeni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1475" y="3766344"/>
            <a:ext cx="345471" cy="345480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9070" y="3795117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spc="-5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31661" y="3819128"/>
            <a:ext cx="477686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Ödeme koşulları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31661" y="4183757"/>
            <a:ext cx="477686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İşletme payının ödeme zamanı, iptal/iade koşulları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1475" y="4655939"/>
            <a:ext cx="345471" cy="345480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9070" y="4684713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spc="-5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31661" y="4708723"/>
            <a:ext cx="477686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Vergi ve şirket türü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31661" y="5073352"/>
            <a:ext cx="477686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Şirket türü, belgeli giderler ve gerçek vergi matrahı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1475" y="5545534"/>
            <a:ext cx="345471" cy="345480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9070" y="5574308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spc="-5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31661" y="5598319"/>
            <a:ext cx="477686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Pilot verileri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31661" y="5962948"/>
            <a:ext cx="477686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Pilotlarda veri trafiği, destek süresi ve ücretli satış dönüşümü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89518" y="1606947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Yerel Kaynaklar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89518" y="1971576"/>
            <a:ext cx="5247052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financial-planning/README.md</a:t>
            </a:r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ve </a:t>
            </a:r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unit_economics.py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GENEL-IS-PLANI.md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PROJE-GEREKSINIMLERI.md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Mevcut ürün akışı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89518" y="3136900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Resmî Kaynaklar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289518" y="3501529"/>
            <a:ext cx="5247052" cy="1287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b="1" u="sng" spc="-24" kern="0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Cloudflare R2 Fiyatlandırma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b="1" u="sng" spc="-24" kern="0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Vercel Frankfurt (fra1) Fiyatlandırma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b="1" u="sng" spc="-24" kern="0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GİB 2026 Gelir Vergisi Tarifesi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b="1" u="sng" spc="-24" kern="0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GİB Kurumlar Vergisi Beyan Rehberi 2026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b="1" u="sng" spc="-24" kern="0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GİB Kâr Payları / Menkul Sermaye İradı 2026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89518" y="4929684"/>
            <a:ext cx="5247052" cy="746323"/>
          </a:xfrm>
          <a:prstGeom prst="roundRect">
            <a:avLst>
              <a:gd name="adj" fmla="val 8643"/>
            </a:avLst>
          </a:prstGeom>
          <a:solidFill>
            <a:srgbClr val="DADBF1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3005" y="5123458"/>
            <a:ext cx="191884" cy="153491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6788377" y="5080198"/>
            <a:ext cx="459470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Oranlar bu görüşmede resmî kaynaklardan kontrol edildi. Finansal tablolarda tam değerlerle hesap, sunumda yuvarlama kullanıldı.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4950BC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2026-09-23T22:16:33Z</dcterms:created>
  <dcterms:modified xsi:type="dcterms:W3CDTF">2026-09-23T22:16:33Z</dcterms:modified>
</cp:coreProperties>
</file>