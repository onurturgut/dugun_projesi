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7EBD3-664E-41E8-B946-8EFAACF3E03B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A76AD-3F74-47D3-BFA4-7AC0BA998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527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Kurucu QR baskısının çıkarıldığını bildirdi. Gösterilenler baskı tasarımlarıdır; basılmış kartların saha fotoğrafı değildir. Gerçek baskıyı görüşmeye götürüp fiziksel örnek olarak gösterebilirsiniz. Katılım, yükleme adedi veya memnuniyet sonucu henüz sunulmadı. Görseldeki QR hedefi bu çalışma kapsamında doğrulanmadı.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76AD-3F74-47D3-BFA4-7AC0BA998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209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7EA57A-ACAE-7FF8-4566-09473BF2D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729D9C6-BC00-733A-6C0A-E81FDF11C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B55394-BF22-31B7-9F28-89C3260C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175A78-FF06-55E4-8F56-6A0E4FE9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FF884F-5CA4-DDED-0426-A8165F85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213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A686C5-199A-B222-941C-7EB87EA5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D7F51C-EC2B-8B17-BF9E-78919C05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F700B92-0A76-3D6C-F1B0-1A0D2FFD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A65980-D254-A2A5-A98D-8CAD761F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68B7624-8359-4922-10F9-01CD7FA0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074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905ABC-1265-8D7E-28C0-7BB3737E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C0DCE47-BC15-56F6-BA21-84C23389A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506BFF-1ACF-02E0-3C5F-95B60898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A8131A1-9CDF-B129-E147-5C5281B9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F5FBBA9-12BD-72BE-FC83-27925F29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454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FF082E-B3DB-9E63-2602-D6698FD0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D6CF2F-F252-A757-9899-B2FE84231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09469C4-286E-0E6B-3C8C-8C07E88DC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51D158D-CA2F-8A89-8E26-41025FDD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1F3C167-7DFC-6A0F-759C-1FB6420E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FA66A33-DB95-F04A-0938-FD9C6B1C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468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24BCB8-E677-1F7A-4E94-B161F113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A86CC14-AA23-974D-D8C5-BF2394412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2E0E808-AE0B-33B0-DA06-BDFD9D8E1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7E02ECF-6800-B881-F31D-68E7AEDB2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9CAC6E3-DAA0-81C0-09B5-74853A327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F2AB8BC-FD24-43C8-7E64-4B480399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5F60342-890B-D02D-F39E-7389ADFF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6FBD714-A307-BD7A-A142-E9D1B166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919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09700E-834E-E3C1-EF44-D94A4C3D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A7E02BD-C98C-03D9-786B-449F1641C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9A76620-C2D5-4CAE-F632-957BE60C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01AB705-FBB4-A3CB-DA97-4D271E65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106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C2F1122-3D78-8129-42DB-C229E479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BEE78F3-FD9C-0BAB-1811-B1AC3B54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61FE4A4-D3DD-6C45-D0C0-04465BD6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814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C54EF0-B994-3EEF-BCA6-D10738E7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F04EAE-9875-687A-7BB8-C34AAA49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48A840F-8ED2-E0D1-5AC3-BAD76B8AB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1D49593-4926-D202-9633-3E9F83255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5732913-2C21-6315-104B-2C991E0F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95A147-EEE3-A7BF-CC5C-42618F4C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987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3F6A6A-79F8-1062-D45D-A17EA436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3EB3AA0-B5C4-E4BD-D956-C3C179D99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8ABA576-DC17-4E3E-0645-ABA76647C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27A427D-04DA-255B-A81E-2B43A034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B5FE8EE-73C0-DDCA-72D4-21EA4C12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2CF40CE-30F8-1946-4C20-C1006B3E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5165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EA454D-AC93-A162-D945-0BB41D43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1A4A7EE-1ABE-4CCA-70C2-AE37DBE91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5D24A6-D09D-D6BC-BCF5-46954182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A16C85-9720-EAD8-3A54-121D2DA3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D62170-15C0-5396-5916-6FB48F55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269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74B7940-9905-5408-8399-90051F75D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9B3E4CF-A8E2-89E5-6EA6-415E78DD9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1E5508B-3218-5B8C-0C85-81975FEA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F4297D-FD01-F851-2EA8-5E3B66C63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83F7222-06D3-6861-38CE-D9D883D7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615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A9ACEEF-399E-9777-A4B5-7ACFB998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9037D63-7973-2D36-7276-DF9F0C77E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6099F5-5192-176F-831C-0E239622C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44AD6-DCD6-4801-A4AE-47CBA10F2FB6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A605E46-FF25-E2AD-7136-92598757C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D2A11B-261B-C230-6649-F494DE8E9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8352-CC71-4EEA-9146-AE05ECB468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031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6FB69A6-7E78-0C24-3032-A07C7F0855EE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İLK ORGANİZASYONUMUZDAN PARTNERLİĞE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E18905C-A22D-9189-42DA-D580170572CD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Misafirlerin anıları. İşletmenizin yeni geliri.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8862CE8-8981-5467-0404-45637221D61E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8A73CE1-1A6B-9AD5-41B4-B00123FD93C6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E1E6EF3-8E4D-2829-0A4A-5F9324DEA420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305B770-CB34-88FB-7CA2-A4FF6030198F}"/>
              </a:ext>
            </a:extLst>
          </p:cNvPr>
          <p:cNvSpPr txBox="1"/>
          <p:nvPr/>
        </p:nvSpPr>
        <p:spPr>
          <a:xfrm>
            <a:off x="533400" y="2247900"/>
            <a:ext cx="5461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4800" b="1">
                <a:solidFill>
                  <a:srgbClr val="9B292E"/>
                </a:solidFill>
                <a:latin typeface="Aptos" panose="020B0004020202020204" pitchFamily="34" charset="0"/>
              </a:rPr>
              <a:t>ANILAR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3EE09DA-F1A9-6174-6846-18FF8B3CD33A}"/>
              </a:ext>
            </a:extLst>
          </p:cNvPr>
          <p:cNvSpPr txBox="1"/>
          <p:nvPr/>
        </p:nvSpPr>
        <p:spPr>
          <a:xfrm>
            <a:off x="533400" y="3251200"/>
            <a:ext cx="46355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100">
                <a:solidFill>
                  <a:srgbClr val="292321"/>
                </a:solidFill>
                <a:latin typeface="Aptos" panose="020B0004020202020204" pitchFamily="34" charset="0"/>
              </a:rPr>
              <a:t>Hilal &amp; Oğuzhan için QR baskısı hazır.</a:t>
            </a:r>
          </a:p>
          <a:p>
            <a:r>
              <a:rPr lang="tr-TR" sz="2100">
                <a:solidFill>
                  <a:srgbClr val="292321"/>
                </a:solidFill>
                <a:latin typeface="Aptos" panose="020B0004020202020204" pitchFamily="34" charset="0"/>
              </a:rPr>
              <a:t>Şimdi bu deneyimi sizin organizasyonlarınıza taşıyalım.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6C1382D-80D3-55CC-AD27-BB791DCDB231}"/>
              </a:ext>
            </a:extLst>
          </p:cNvPr>
          <p:cNvSpPr/>
          <p:nvPr/>
        </p:nvSpPr>
        <p:spPr>
          <a:xfrm>
            <a:off x="533400" y="4940300"/>
            <a:ext cx="4635500" cy="8382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59F444E-9F05-48A8-76BE-45BC3BCACF53}"/>
              </a:ext>
            </a:extLst>
          </p:cNvPr>
          <p:cNvSpPr txBox="1"/>
          <p:nvPr/>
        </p:nvSpPr>
        <p:spPr>
          <a:xfrm>
            <a:off x="749300" y="5207000"/>
            <a:ext cx="4292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Her satışta işletmenize %30 pay</a:t>
            </a:r>
            <a:endParaRPr lang="tr-TR" sz="2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302E737-4C8D-9BF4-0BC4-FE5F4241C3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31896"/>
            <a:ext cx="6172200" cy="3473708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53D46841-5AF4-B339-1AC4-E2C415C3A456}"/>
              </a:ext>
            </a:extLst>
          </p:cNvPr>
          <p:cNvSpPr txBox="1"/>
          <p:nvPr/>
        </p:nvSpPr>
        <p:spPr>
          <a:xfrm>
            <a:off x="5613400" y="5854700"/>
            <a:ext cx="5930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000">
                <a:solidFill>
                  <a:srgbClr val="726760"/>
                </a:solidFill>
                <a:latin typeface="Aptos" panose="020B0004020202020204" pitchFamily="34" charset="0"/>
              </a:rPr>
              <a:t>Organizasyon için hazırlanan tasarımların temsili masa yerleşimi.</a:t>
            </a:r>
          </a:p>
        </p:txBody>
      </p:sp>
    </p:spTree>
    <p:extLst>
      <p:ext uri="{BB962C8B-B14F-4D97-AF65-F5344CB8AC3E}">
        <p14:creationId xmlns:p14="http://schemas.microsoft.com/office/powerpoint/2010/main" val="185253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0A3E6B83-2E6A-677F-9AE6-E013F366FE5B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DENEYİM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13A2D21-9007-4884-5FE8-653CE242B956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3100" b="1">
                <a:solidFill>
                  <a:srgbClr val="292321"/>
                </a:solidFill>
                <a:latin typeface="Aptos" panose="020B0004020202020204" pitchFamily="34" charset="0"/>
              </a:rPr>
              <a:t>Telefonlarda kalan anılar, özel bir albümde.</a:t>
            </a:r>
            <a:endParaRPr lang="tr-TR" sz="3100" b="1">
              <a:solidFill>
                <a:srgbClr val="292321"/>
              </a:solidFill>
              <a:latin typeface="Aptos" panose="020B00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999A441-328C-170A-59EE-F21B9F363E98}"/>
              </a:ext>
            </a:extLst>
          </p:cNvPr>
          <p:cNvSpPr txBox="1"/>
          <p:nvPr/>
        </p:nvSpPr>
        <p:spPr>
          <a:xfrm>
            <a:off x="533400" y="18034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600">
                <a:solidFill>
                  <a:srgbClr val="726760"/>
                </a:solidFill>
                <a:latin typeface="Aptos" panose="020B0004020202020204" pitchFamily="34" charset="0"/>
              </a:rPr>
              <a:t>Misafirlerin fotoğraf ve videoları organizasyona özel paylaşım sayfasında toplanır.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0BC8F11-BB79-C033-B56F-0BACCA6B3372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BCDD0D2-6435-E9F0-26D4-EE334B092F9D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229F648-0B48-D998-FAC2-CB3B5A93D9DE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9551D93-ED20-90D4-3A0F-40F1A8E00A95}"/>
              </a:ext>
            </a:extLst>
          </p:cNvPr>
          <p:cNvSpPr/>
          <p:nvPr/>
        </p:nvSpPr>
        <p:spPr>
          <a:xfrm>
            <a:off x="533400" y="2781300"/>
            <a:ext cx="35179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4E7D4E5-27FE-E457-23DA-3AF3C3BFB589}"/>
              </a:ext>
            </a:extLst>
          </p:cNvPr>
          <p:cNvSpPr txBox="1"/>
          <p:nvPr/>
        </p:nvSpPr>
        <p:spPr>
          <a:xfrm>
            <a:off x="787400" y="3048000"/>
            <a:ext cx="30099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700" b="1">
                <a:solidFill>
                  <a:srgbClr val="9B292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DECE099-8F96-B5EB-A165-35DAA183E1EE}"/>
              </a:ext>
            </a:extLst>
          </p:cNvPr>
          <p:cNvSpPr txBox="1"/>
          <p:nvPr/>
        </p:nvSpPr>
        <p:spPr>
          <a:xfrm>
            <a:off x="787400" y="37465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QR ile ulaş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CDFEA22-3057-69E0-0895-8E31F9A0859D}"/>
              </a:ext>
            </a:extLst>
          </p:cNvPr>
          <p:cNvSpPr txBox="1"/>
          <p:nvPr/>
        </p:nvSpPr>
        <p:spPr>
          <a:xfrm>
            <a:off x="787400" y="4343400"/>
            <a:ext cx="3009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>
                <a:solidFill>
                  <a:srgbClr val="726760"/>
                </a:solidFill>
                <a:latin typeface="Aptos" panose="020B0004020202020204" pitchFamily="34" charset="0"/>
              </a:rPr>
              <a:t>Misafirler telefonlarından paylaşım sayfasını açar.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DE6088C-0BAC-EBB2-EF44-C18E6FF22FD5}"/>
              </a:ext>
            </a:extLst>
          </p:cNvPr>
          <p:cNvSpPr/>
          <p:nvPr/>
        </p:nvSpPr>
        <p:spPr>
          <a:xfrm>
            <a:off x="4330700" y="2781300"/>
            <a:ext cx="35179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F30370A1-271F-2A06-B239-9D2CED4CD3BF}"/>
              </a:ext>
            </a:extLst>
          </p:cNvPr>
          <p:cNvSpPr txBox="1"/>
          <p:nvPr/>
        </p:nvSpPr>
        <p:spPr>
          <a:xfrm>
            <a:off x="4584700" y="3048000"/>
            <a:ext cx="30099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700" b="1">
                <a:solidFill>
                  <a:srgbClr val="9B292E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6D6D68C-8851-E3AB-9C70-3FC1166CCBFF}"/>
              </a:ext>
            </a:extLst>
          </p:cNvPr>
          <p:cNvSpPr txBox="1"/>
          <p:nvPr/>
        </p:nvSpPr>
        <p:spPr>
          <a:xfrm>
            <a:off x="4584700" y="37465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Kolayca paylaş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BF94430-50AF-E9AB-D84C-C3B2EFF9FFE6}"/>
              </a:ext>
            </a:extLst>
          </p:cNvPr>
          <p:cNvSpPr txBox="1"/>
          <p:nvPr/>
        </p:nvSpPr>
        <p:spPr>
          <a:xfrm>
            <a:off x="4584700" y="4343400"/>
            <a:ext cx="30099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700">
                <a:solidFill>
                  <a:srgbClr val="726760"/>
                </a:solidFill>
                <a:latin typeface="Aptos" panose="020B0004020202020204" pitchFamily="34" charset="0"/>
              </a:rPr>
              <a:t>Uygulama indirmeden, üyelik açmadan fotoğraf ve video yükler.</a:t>
            </a:r>
            <a:endParaRPr lang="tr-TR" sz="1700">
              <a:solidFill>
                <a:srgbClr val="726760"/>
              </a:solidFill>
              <a:latin typeface="Aptos" panose="020B0004020202020204" pitchFamily="34" charset="0"/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297F651-5983-19F0-CC8B-47959D5F789F}"/>
              </a:ext>
            </a:extLst>
          </p:cNvPr>
          <p:cNvSpPr/>
          <p:nvPr/>
        </p:nvSpPr>
        <p:spPr>
          <a:xfrm>
            <a:off x="8128000" y="2781300"/>
            <a:ext cx="35179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1FA50A0F-7A23-18BB-B90F-5A54AA0AB404}"/>
              </a:ext>
            </a:extLst>
          </p:cNvPr>
          <p:cNvSpPr txBox="1"/>
          <p:nvPr/>
        </p:nvSpPr>
        <p:spPr>
          <a:xfrm>
            <a:off x="8382000" y="3048000"/>
            <a:ext cx="30099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700" b="1">
                <a:solidFill>
                  <a:srgbClr val="9B292E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AC034CAA-3C88-A383-AF64-ED4DC31E0BDE}"/>
              </a:ext>
            </a:extLst>
          </p:cNvPr>
          <p:cNvSpPr txBox="1"/>
          <p:nvPr/>
        </p:nvSpPr>
        <p:spPr>
          <a:xfrm>
            <a:off x="8382000" y="3746500"/>
            <a:ext cx="3009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Anıları sakla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37B4599F-26CC-7B55-1908-85F54E94F1DE}"/>
              </a:ext>
            </a:extLst>
          </p:cNvPr>
          <p:cNvSpPr txBox="1"/>
          <p:nvPr/>
        </p:nvSpPr>
        <p:spPr>
          <a:xfrm>
            <a:off x="8382000" y="4343400"/>
            <a:ext cx="3009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>
                <a:solidFill>
                  <a:srgbClr val="726760"/>
                </a:solidFill>
                <a:latin typeface="Aptos" panose="020B0004020202020204" pitchFamily="34" charset="0"/>
              </a:rPr>
              <a:t>Organizasyon sahibi özel albüme erişir, içerikleri indirir.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739062A-B136-BE8D-97AB-7469C7895CB2}"/>
              </a:ext>
            </a:extLst>
          </p:cNvPr>
          <p:cNvSpPr txBox="1"/>
          <p:nvPr/>
        </p:nvSpPr>
        <p:spPr>
          <a:xfrm>
            <a:off x="533400" y="5867400"/>
            <a:ext cx="1112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726760"/>
                </a:solidFill>
                <a:latin typeface="Aptos" panose="020B0004020202020204" pitchFamily="34" charset="0"/>
              </a:rPr>
              <a:t>Misafirler diğer kişilerin yüklediği içerikleri görüntülemez.</a:t>
            </a:r>
          </a:p>
        </p:txBody>
      </p:sp>
    </p:spTree>
    <p:extLst>
      <p:ext uri="{BB962C8B-B14F-4D97-AF65-F5344CB8AC3E}">
        <p14:creationId xmlns:p14="http://schemas.microsoft.com/office/powerpoint/2010/main" val="361047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E5646BB1-CECC-1A43-39F0-9E58F7B0F1DC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İLK ORGANİZASYON • HİLAL &amp; OĞUZHAN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05F6873-2A95-3A11-FC5D-95F38ACA0AC7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Fikirden baskıya: ilk QR kartımız hazır.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1B0151F-0238-8E45-38C0-6444DC447F56}"/>
              </a:ext>
            </a:extLst>
          </p:cNvPr>
          <p:cNvSpPr txBox="1"/>
          <p:nvPr/>
        </p:nvSpPr>
        <p:spPr>
          <a:xfrm>
            <a:off x="533400" y="18034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600">
                <a:solidFill>
                  <a:srgbClr val="726760"/>
                </a:solidFill>
                <a:latin typeface="Aptos" panose="020B0004020202020204" pitchFamily="34" charset="0"/>
              </a:rPr>
              <a:t>Organizasyona özel hazırlanan QR ve karşılama kartı tasarımları.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3EFDBB1-B34F-5B7B-17A8-3E1950439E4B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6278F60-1179-2F32-C379-2BB3C47AD9A6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7388623-2B3A-D370-1CAE-442A674035AE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1961B92-4FD9-EF8D-A015-5023A243550A}"/>
              </a:ext>
            </a:extLst>
          </p:cNvPr>
          <p:cNvSpPr/>
          <p:nvPr/>
        </p:nvSpPr>
        <p:spPr>
          <a:xfrm>
            <a:off x="533400" y="2667000"/>
            <a:ext cx="5435600" cy="312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9471DCE-9089-C02D-6944-E59ED21DB260}"/>
              </a:ext>
            </a:extLst>
          </p:cNvPr>
          <p:cNvSpPr/>
          <p:nvPr/>
        </p:nvSpPr>
        <p:spPr>
          <a:xfrm>
            <a:off x="6223000" y="2667000"/>
            <a:ext cx="5435600" cy="312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CE34FA07-8A17-F8AE-EF23-DB11DA31F0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2768600"/>
            <a:ext cx="5111750" cy="292100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20077F65-B312-D71E-C629-679FCE1E4CA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925" y="2768600"/>
            <a:ext cx="5111750" cy="2921000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7838A063-5F8B-3063-1C35-D26A034C901F}"/>
              </a:ext>
            </a:extLst>
          </p:cNvPr>
          <p:cNvSpPr txBox="1"/>
          <p:nvPr/>
        </p:nvSpPr>
        <p:spPr>
          <a:xfrm>
            <a:off x="533400" y="59309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 b="1">
                <a:solidFill>
                  <a:srgbClr val="9B292E"/>
                </a:solidFill>
                <a:latin typeface="Aptos" panose="020B0004020202020204" pitchFamily="34" charset="0"/>
              </a:rPr>
              <a:t>QR kartı • Anı yakala, sevgiyi paylaş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AD2D2B0-A4AE-7500-07AA-B191C3313B0F}"/>
              </a:ext>
            </a:extLst>
          </p:cNvPr>
          <p:cNvSpPr txBox="1"/>
          <p:nvPr/>
        </p:nvSpPr>
        <p:spPr>
          <a:xfrm>
            <a:off x="6223000" y="5930900"/>
            <a:ext cx="543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 b="1">
                <a:solidFill>
                  <a:srgbClr val="9B292E"/>
                </a:solidFill>
                <a:latin typeface="Aptos" panose="020B0004020202020204" pitchFamily="34" charset="0"/>
              </a:rPr>
              <a:t>Karşılama kartı • Hilal &amp; Oğuzhan</a:t>
            </a:r>
          </a:p>
        </p:txBody>
      </p:sp>
    </p:spTree>
    <p:extLst>
      <p:ext uri="{BB962C8B-B14F-4D97-AF65-F5344CB8AC3E}">
        <p14:creationId xmlns:p14="http://schemas.microsoft.com/office/powerpoint/2010/main" val="184453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4701253-6643-00C9-7752-6CBD60C84EA6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MASA ÜZERİNDEKİ DENEYİM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5E49CC7-C09A-74DB-25DA-0F4DEED544E6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Organizasyonun tasarımına eşlik eden bir davet.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61B70C4-C684-41BD-3823-448BD001A451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4D59105-3F88-6417-ECBC-4AFA3C32FDBC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E5A2F7B-4D6A-83F9-5C66-897CEF8D41BF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04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895CBFA-3F9E-0085-6B33-DA7AC907AC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929" y="1917700"/>
            <a:ext cx="7424142" cy="417830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C215A459-77BE-A091-FCF7-C393CB587D9E}"/>
              </a:ext>
            </a:extLst>
          </p:cNvPr>
          <p:cNvSpPr txBox="1"/>
          <p:nvPr/>
        </p:nvSpPr>
        <p:spPr>
          <a:xfrm>
            <a:off x="533400" y="6096000"/>
            <a:ext cx="11125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>
                <a:solidFill>
                  <a:srgbClr val="726760"/>
                </a:solidFill>
                <a:latin typeface="Aptos" panose="020B0004020202020204" pitchFamily="34" charset="0"/>
              </a:rPr>
              <a:t>Temsili masa yerleşimi • Tasarım görselleştirmesidir; gerçekleşmiş etkinlik fotoğrafı değildir.</a:t>
            </a:r>
          </a:p>
        </p:txBody>
      </p:sp>
    </p:spTree>
    <p:extLst>
      <p:ext uri="{BB962C8B-B14F-4D97-AF65-F5344CB8AC3E}">
        <p14:creationId xmlns:p14="http://schemas.microsoft.com/office/powerpoint/2010/main" val="93423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8E99484-87BE-6188-EB14-57A7C1DE76AD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HİZMET AKIŞI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AD75F33-9737-8EF1-7637-749608057515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Hazırlıktan albüm teslimine.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3231245-1121-9F31-FCB0-5A575754284C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B95EF85-E49E-AC75-2BFA-99E4F50A57E2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9C7FFFA-9EB8-5F17-533F-8B95F0534646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8CB2AFE-57B3-B211-4463-2030867EDB0D}"/>
              </a:ext>
            </a:extLst>
          </p:cNvPr>
          <p:cNvSpPr/>
          <p:nvPr/>
        </p:nvSpPr>
        <p:spPr>
          <a:xfrm>
            <a:off x="533400" y="2095500"/>
            <a:ext cx="647700" cy="6477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3DA0EFA-2DEC-C694-9D39-7ABB5509A281}"/>
              </a:ext>
            </a:extLst>
          </p:cNvPr>
          <p:cNvSpPr txBox="1"/>
          <p:nvPr/>
        </p:nvSpPr>
        <p:spPr>
          <a:xfrm>
            <a:off x="762000" y="2209800"/>
            <a:ext cx="355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BFD1973-BCB1-BBFD-8054-89AF821277D4}"/>
              </a:ext>
            </a:extLst>
          </p:cNvPr>
          <p:cNvSpPr txBox="1"/>
          <p:nvPr/>
        </p:nvSpPr>
        <p:spPr>
          <a:xfrm>
            <a:off x="1460500" y="2095500"/>
            <a:ext cx="990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Organizasyona özel hazırlık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25544FB-D27A-C010-D11E-F4873382EF1F}"/>
              </a:ext>
            </a:extLst>
          </p:cNvPr>
          <p:cNvSpPr txBox="1"/>
          <p:nvPr/>
        </p:nvSpPr>
        <p:spPr>
          <a:xfrm>
            <a:off x="1460500" y="2565400"/>
            <a:ext cx="990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>
                <a:solidFill>
                  <a:srgbClr val="726760"/>
                </a:solidFill>
                <a:latin typeface="Aptos" panose="020B0004020202020204" pitchFamily="34" charset="0"/>
              </a:rPr>
              <a:t>Paylaşım sayfası, kişisel karşılama ve QR baskısı.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DA0C3A7-DA20-7122-A5E1-1561D8E8879B}"/>
              </a:ext>
            </a:extLst>
          </p:cNvPr>
          <p:cNvSpPr/>
          <p:nvPr/>
        </p:nvSpPr>
        <p:spPr>
          <a:xfrm>
            <a:off x="533400" y="3200400"/>
            <a:ext cx="647700" cy="6477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841A181C-5386-FC53-0A79-41D4095E6712}"/>
              </a:ext>
            </a:extLst>
          </p:cNvPr>
          <p:cNvSpPr txBox="1"/>
          <p:nvPr/>
        </p:nvSpPr>
        <p:spPr>
          <a:xfrm>
            <a:off x="762000" y="3314700"/>
            <a:ext cx="355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B875AC81-5C1B-6D50-C11A-CD898A1E9BD4}"/>
              </a:ext>
            </a:extLst>
          </p:cNvPr>
          <p:cNvSpPr txBox="1"/>
          <p:nvPr/>
        </p:nvSpPr>
        <p:spPr>
          <a:xfrm>
            <a:off x="1460500" y="3200400"/>
            <a:ext cx="990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Misafirlerden paylaşım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62E4923-5AC0-416A-2BF4-EFD4B18FF011}"/>
              </a:ext>
            </a:extLst>
          </p:cNvPr>
          <p:cNvSpPr txBox="1"/>
          <p:nvPr/>
        </p:nvSpPr>
        <p:spPr>
          <a:xfrm>
            <a:off x="1460500" y="3670300"/>
            <a:ext cx="990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>
                <a:solidFill>
                  <a:srgbClr val="726760"/>
                </a:solidFill>
                <a:latin typeface="Aptos" panose="020B0004020202020204" pitchFamily="34" charset="0"/>
              </a:rPr>
              <a:t>Fotoğraf ve video yükleme; isteğe bağlı isim ve mesaj.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BFB8177-9C3F-E478-8FDD-2996AF1EE2CF}"/>
              </a:ext>
            </a:extLst>
          </p:cNvPr>
          <p:cNvSpPr/>
          <p:nvPr/>
        </p:nvSpPr>
        <p:spPr>
          <a:xfrm>
            <a:off x="533400" y="4305300"/>
            <a:ext cx="647700" cy="6477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EF445E04-64A4-BEB5-B975-02FA9C7FEF4D}"/>
              </a:ext>
            </a:extLst>
          </p:cNvPr>
          <p:cNvSpPr txBox="1"/>
          <p:nvPr/>
        </p:nvSpPr>
        <p:spPr>
          <a:xfrm>
            <a:off x="762000" y="4419600"/>
            <a:ext cx="355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A7783DE0-C72A-A3EB-1E38-13CE8E724C70}"/>
              </a:ext>
            </a:extLst>
          </p:cNvPr>
          <p:cNvSpPr txBox="1"/>
          <p:nvPr/>
        </p:nvSpPr>
        <p:spPr>
          <a:xfrm>
            <a:off x="1460500" y="4305300"/>
            <a:ext cx="990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200" b="1">
                <a:solidFill>
                  <a:srgbClr val="292321"/>
                </a:solidFill>
                <a:latin typeface="Aptos" panose="020B0004020202020204" pitchFamily="34" charset="0"/>
              </a:rPr>
              <a:t>Özel albüme erişim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D628B24B-E11F-D2FF-F328-7BEA03EB0F68}"/>
              </a:ext>
            </a:extLst>
          </p:cNvPr>
          <p:cNvSpPr txBox="1"/>
          <p:nvPr/>
        </p:nvSpPr>
        <p:spPr>
          <a:xfrm>
            <a:off x="1460500" y="4775200"/>
            <a:ext cx="990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700">
                <a:solidFill>
                  <a:srgbClr val="726760"/>
                </a:solidFill>
                <a:latin typeface="Aptos" panose="020B0004020202020204" pitchFamily="34" charset="0"/>
              </a:rPr>
              <a:t>Yetkili kullanıcılar görüntüler ve içerikleri indirir.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00085908-059A-67B3-FEA2-21454D653CF0}"/>
              </a:ext>
            </a:extLst>
          </p:cNvPr>
          <p:cNvSpPr/>
          <p:nvPr/>
        </p:nvSpPr>
        <p:spPr>
          <a:xfrm>
            <a:off x="533400" y="5537200"/>
            <a:ext cx="11125200" cy="6477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59F4BE27-6D35-D4FD-FC36-96E9F0193C66}"/>
              </a:ext>
            </a:extLst>
          </p:cNvPr>
          <p:cNvSpPr txBox="1"/>
          <p:nvPr/>
        </p:nvSpPr>
        <p:spPr>
          <a:xfrm>
            <a:off x="711200" y="5676900"/>
            <a:ext cx="1071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200">
                <a:solidFill>
                  <a:srgbClr val="292321"/>
                </a:solidFill>
                <a:latin typeface="Aptos" panose="020B0004020202020204" pitchFamily="34" charset="0"/>
              </a:rPr>
              <a:t>Organizasyon tarihinden sonra 7 gün yükleme, organizasyon tarihinden itibaren 3 ay saklama. Süre dolmadan indirme yapılır; süre sonunda içerikler kalıcı silinir.</a:t>
            </a:r>
          </a:p>
        </p:txBody>
      </p:sp>
    </p:spTree>
    <p:extLst>
      <p:ext uri="{BB962C8B-B14F-4D97-AF65-F5344CB8AC3E}">
        <p14:creationId xmlns:p14="http://schemas.microsoft.com/office/powerpoint/2010/main" val="352558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2C8E89BA-F011-A245-FCF6-E1068058B332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PARTNERLİK MODELİ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4384535-65EA-D0E2-D9F9-4FC2ED923149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Siz müşteriye sunun. Hizmet giderleri bize ait.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DF76B87-FE1A-B03C-263D-7A7F8DBC08BE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5C3C72F-0AA5-2B36-1A30-983F96521D22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F3A29CF-A67F-20E1-E258-9A506B54B35B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A6DEF8F-ACE1-63F7-16E8-E0744C40C60B}"/>
              </a:ext>
            </a:extLst>
          </p:cNvPr>
          <p:cNvSpPr/>
          <p:nvPr/>
        </p:nvSpPr>
        <p:spPr>
          <a:xfrm>
            <a:off x="533400" y="2159000"/>
            <a:ext cx="5397500" cy="3505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22C29D2-C5FE-A84E-9315-09931AE08AC4}"/>
              </a:ext>
            </a:extLst>
          </p:cNvPr>
          <p:cNvSpPr/>
          <p:nvPr/>
        </p:nvSpPr>
        <p:spPr>
          <a:xfrm>
            <a:off x="6235700" y="2159000"/>
            <a:ext cx="5422900" cy="35052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0C6F6EB-F853-A863-FAAA-7CCF03FD084E}"/>
              </a:ext>
            </a:extLst>
          </p:cNvPr>
          <p:cNvSpPr txBox="1"/>
          <p:nvPr/>
        </p:nvSpPr>
        <p:spPr>
          <a:xfrm>
            <a:off x="838200" y="2349500"/>
            <a:ext cx="4635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4800" b="1">
                <a:solidFill>
                  <a:srgbClr val="9B292E"/>
                </a:solidFill>
                <a:latin typeface="Aptos" panose="020B0004020202020204" pitchFamily="34" charset="0"/>
              </a:rPr>
              <a:t>%30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C82C24D-F066-23A7-FBB1-90572CCB7A82}"/>
              </a:ext>
            </a:extLst>
          </p:cNvPr>
          <p:cNvSpPr txBox="1"/>
          <p:nvPr/>
        </p:nvSpPr>
        <p:spPr>
          <a:xfrm>
            <a:off x="838200" y="3352800"/>
            <a:ext cx="4635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292321"/>
                </a:solidFill>
                <a:latin typeface="Aptos" panose="020B0004020202020204" pitchFamily="34" charset="0"/>
              </a:rPr>
              <a:t>İşletmenizin payı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6C2C8DC-BE7A-3C94-3306-A33DBEF15393}"/>
              </a:ext>
            </a:extLst>
          </p:cNvPr>
          <p:cNvSpPr txBox="1"/>
          <p:nvPr/>
        </p:nvSpPr>
        <p:spPr>
          <a:xfrm>
            <a:off x="838200" y="4025900"/>
            <a:ext cx="46736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Hizmeti müşteriye tanıtın.</a:t>
            </a:r>
          </a:p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Organizasyon bilgilerini koordine edin.</a:t>
            </a:r>
          </a:p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Gerçekleşen satıştan pay kazanın.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D7470BA0-B6A6-C876-A65E-7E3F1A6DBD0D}"/>
              </a:ext>
            </a:extLst>
          </p:cNvPr>
          <p:cNvSpPr txBox="1"/>
          <p:nvPr/>
        </p:nvSpPr>
        <p:spPr>
          <a:xfrm>
            <a:off x="6540500" y="2349500"/>
            <a:ext cx="4635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4800" b="1">
                <a:solidFill>
                  <a:srgbClr val="9B292E"/>
                </a:solidFill>
                <a:latin typeface="Aptos" panose="020B0004020202020204" pitchFamily="34" charset="0"/>
              </a:rPr>
              <a:t>%70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F45D482D-8E3D-0161-CF2B-AFD6568AF264}"/>
              </a:ext>
            </a:extLst>
          </p:cNvPr>
          <p:cNvSpPr txBox="1"/>
          <p:nvPr/>
        </p:nvSpPr>
        <p:spPr>
          <a:xfrm>
            <a:off x="6540500" y="3352800"/>
            <a:ext cx="4635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 b="1">
                <a:solidFill>
                  <a:srgbClr val="292321"/>
                </a:solidFill>
                <a:latin typeface="Aptos" panose="020B0004020202020204" pitchFamily="34" charset="0"/>
              </a:rPr>
              <a:t>ANILAR payı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1D6B7D84-62BA-4B86-29A4-20579B5966F4}"/>
              </a:ext>
            </a:extLst>
          </p:cNvPr>
          <p:cNvSpPr txBox="1"/>
          <p:nvPr/>
        </p:nvSpPr>
        <p:spPr>
          <a:xfrm>
            <a:off x="6540500" y="4025900"/>
            <a:ext cx="46990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QR baskısı ve teslimat giderleri.</a:t>
            </a:r>
          </a:p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Dijital albüm ve teknik altyapı.</a:t>
            </a:r>
          </a:p>
          <a:p>
            <a:r>
              <a:rPr lang="tr-TR" sz="1900">
                <a:solidFill>
                  <a:srgbClr val="292321"/>
                </a:solidFill>
                <a:latin typeface="Aptos" panose="020B0004020202020204" pitchFamily="34" charset="0"/>
              </a:rPr>
              <a:t>Hizmet ve teknik destek maliyetleri.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943C0A1A-F5F5-FF5F-968C-0A4D030FA3C7}"/>
              </a:ext>
            </a:extLst>
          </p:cNvPr>
          <p:cNvSpPr txBox="1"/>
          <p:nvPr/>
        </p:nvSpPr>
        <p:spPr>
          <a:xfrm>
            <a:off x="533400" y="5867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726760"/>
                </a:solidFill>
                <a:latin typeface="Aptos" panose="020B0004020202020204" pitchFamily="34" charset="0"/>
              </a:rPr>
              <a:t>Paylaşım KDV hariç satış üzerinden yapılır. İşletmenin payından hizmet gideri kesilmez; kendi vergileri işletmeye aittir.</a:t>
            </a:r>
          </a:p>
        </p:txBody>
      </p:sp>
    </p:spTree>
    <p:extLst>
      <p:ext uri="{BB962C8B-B14F-4D97-AF65-F5344CB8AC3E}">
        <p14:creationId xmlns:p14="http://schemas.microsoft.com/office/powerpoint/2010/main" val="116207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A452B44F-0335-FDBF-C9DB-A14A2B480263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FİYAT SEÇENEKLERİ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BCA340F-8AD8-B50C-155C-66C65D49C2AC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Her satışın işletmenize katkısı net.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378AF30-FF8F-50DA-0DB1-7C965B890C11}"/>
              </a:ext>
            </a:extLst>
          </p:cNvPr>
          <p:cNvSpPr txBox="1"/>
          <p:nvPr/>
        </p:nvSpPr>
        <p:spPr>
          <a:xfrm>
            <a:off x="533400" y="18034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600">
                <a:solidFill>
                  <a:srgbClr val="726760"/>
                </a:solidFill>
                <a:latin typeface="Aptos" panose="020B0004020202020204" pitchFamily="34" charset="0"/>
              </a:rPr>
              <a:t>Üç fiyat alternatifi; aynı %30 işletme payı.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C14A475-26B4-2C1A-5DEE-E37EF1C4C4A9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2CE5358-9BF4-6E47-814B-C24E71DBB2C3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1435154-6058-6A16-074C-94F898BE0D75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DBF2896-6BA3-F871-6EAB-F3261DCBFF7A}"/>
              </a:ext>
            </a:extLst>
          </p:cNvPr>
          <p:cNvSpPr/>
          <p:nvPr/>
        </p:nvSpPr>
        <p:spPr>
          <a:xfrm>
            <a:off x="533400" y="2768600"/>
            <a:ext cx="3708400" cy="6096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6C4653E-8362-7F16-32F5-2BB85FD63E66}"/>
              </a:ext>
            </a:extLst>
          </p:cNvPr>
          <p:cNvSpPr txBox="1"/>
          <p:nvPr/>
        </p:nvSpPr>
        <p:spPr>
          <a:xfrm>
            <a:off x="711200" y="29210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 b="1">
                <a:solidFill>
                  <a:srgbClr val="FFFFFF"/>
                </a:solidFill>
                <a:latin typeface="Aptos" panose="020B0004020202020204" pitchFamily="34" charset="0"/>
              </a:rPr>
              <a:t>Müşteri fiyatı*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BF79BE68-FC75-EC9F-360A-C41F6D50AF63}"/>
              </a:ext>
            </a:extLst>
          </p:cNvPr>
          <p:cNvSpPr/>
          <p:nvPr/>
        </p:nvSpPr>
        <p:spPr>
          <a:xfrm>
            <a:off x="4241800" y="2768600"/>
            <a:ext cx="3708400" cy="6096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6434858D-D461-53EF-3823-F6104D8D03C6}"/>
              </a:ext>
            </a:extLst>
          </p:cNvPr>
          <p:cNvSpPr txBox="1"/>
          <p:nvPr/>
        </p:nvSpPr>
        <p:spPr>
          <a:xfrm>
            <a:off x="4419600" y="29210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 b="1">
                <a:solidFill>
                  <a:srgbClr val="FFFFFF"/>
                </a:solidFill>
                <a:latin typeface="Aptos" panose="020B0004020202020204" pitchFamily="34" charset="0"/>
              </a:rPr>
              <a:t>KDV hariç satış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D7739725-57DD-9F3E-678E-B924A8D4205D}"/>
              </a:ext>
            </a:extLst>
          </p:cNvPr>
          <p:cNvSpPr/>
          <p:nvPr/>
        </p:nvSpPr>
        <p:spPr>
          <a:xfrm>
            <a:off x="7950200" y="2768600"/>
            <a:ext cx="3708400" cy="6096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5A568F5-80B6-BC2D-0988-F4665588AF42}"/>
              </a:ext>
            </a:extLst>
          </p:cNvPr>
          <p:cNvSpPr txBox="1"/>
          <p:nvPr/>
        </p:nvSpPr>
        <p:spPr>
          <a:xfrm>
            <a:off x="8128000" y="29210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 b="1">
                <a:solidFill>
                  <a:srgbClr val="FFFFFF"/>
                </a:solidFill>
                <a:latin typeface="Aptos" panose="020B0004020202020204" pitchFamily="34" charset="0"/>
              </a:rPr>
              <a:t>İşletmenizin payı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4502EEE-F8F3-59E3-34E1-DA717D5D7BEF}"/>
              </a:ext>
            </a:extLst>
          </p:cNvPr>
          <p:cNvSpPr/>
          <p:nvPr/>
        </p:nvSpPr>
        <p:spPr>
          <a:xfrm>
            <a:off x="533400" y="33782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E0C0778-7467-AF9A-E327-A381D64746DE}"/>
              </a:ext>
            </a:extLst>
          </p:cNvPr>
          <p:cNvSpPr txBox="1"/>
          <p:nvPr/>
        </p:nvSpPr>
        <p:spPr>
          <a:xfrm>
            <a:off x="711200" y="35306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3.750 TL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12A39B2-2BD6-8230-78DC-4ED18763ACF5}"/>
              </a:ext>
            </a:extLst>
          </p:cNvPr>
          <p:cNvSpPr/>
          <p:nvPr/>
        </p:nvSpPr>
        <p:spPr>
          <a:xfrm>
            <a:off x="4241800" y="33782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0FCB8184-A2F9-C7CF-BB7B-C413C1033B51}"/>
              </a:ext>
            </a:extLst>
          </p:cNvPr>
          <p:cNvSpPr txBox="1"/>
          <p:nvPr/>
        </p:nvSpPr>
        <p:spPr>
          <a:xfrm>
            <a:off x="4419600" y="35306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3.125,00 TL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17D3B2F-4273-C084-49BA-1FA56764441B}"/>
              </a:ext>
            </a:extLst>
          </p:cNvPr>
          <p:cNvSpPr/>
          <p:nvPr/>
        </p:nvSpPr>
        <p:spPr>
          <a:xfrm>
            <a:off x="7950200" y="33782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58875EF4-CE9B-3853-9662-3BAC419664EB}"/>
              </a:ext>
            </a:extLst>
          </p:cNvPr>
          <p:cNvSpPr txBox="1"/>
          <p:nvPr/>
        </p:nvSpPr>
        <p:spPr>
          <a:xfrm>
            <a:off x="8128000" y="35306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937,50 TL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8A13B74C-6348-6691-08C5-5E4FB55FE80D}"/>
              </a:ext>
            </a:extLst>
          </p:cNvPr>
          <p:cNvSpPr/>
          <p:nvPr/>
        </p:nvSpPr>
        <p:spPr>
          <a:xfrm>
            <a:off x="533400" y="3987800"/>
            <a:ext cx="3708400" cy="6096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65A3E9BC-70BA-C7DA-85A6-AE75D2AAE1CB}"/>
              </a:ext>
            </a:extLst>
          </p:cNvPr>
          <p:cNvSpPr txBox="1"/>
          <p:nvPr/>
        </p:nvSpPr>
        <p:spPr>
          <a:xfrm>
            <a:off x="711200" y="41402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5.000 TL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59E434D-530B-F6C4-44F2-5CD5F00D4093}"/>
              </a:ext>
            </a:extLst>
          </p:cNvPr>
          <p:cNvSpPr/>
          <p:nvPr/>
        </p:nvSpPr>
        <p:spPr>
          <a:xfrm>
            <a:off x="4241800" y="3987800"/>
            <a:ext cx="3708400" cy="6096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29D1191B-C168-CB61-A9BA-13840D2B2BDA}"/>
              </a:ext>
            </a:extLst>
          </p:cNvPr>
          <p:cNvSpPr txBox="1"/>
          <p:nvPr/>
        </p:nvSpPr>
        <p:spPr>
          <a:xfrm>
            <a:off x="4419600" y="41402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4.166,67 TL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C1BC3D7-6901-1614-9AE9-D987686DBBDB}"/>
              </a:ext>
            </a:extLst>
          </p:cNvPr>
          <p:cNvSpPr/>
          <p:nvPr/>
        </p:nvSpPr>
        <p:spPr>
          <a:xfrm>
            <a:off x="7950200" y="3987800"/>
            <a:ext cx="3708400" cy="6096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C5016FC7-B502-CA0F-3240-13B5BB36C1ED}"/>
              </a:ext>
            </a:extLst>
          </p:cNvPr>
          <p:cNvSpPr txBox="1"/>
          <p:nvPr/>
        </p:nvSpPr>
        <p:spPr>
          <a:xfrm>
            <a:off x="8128000" y="41402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1.250,00 TL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24078334-4722-EA69-784E-67A94653259A}"/>
              </a:ext>
            </a:extLst>
          </p:cNvPr>
          <p:cNvSpPr/>
          <p:nvPr/>
        </p:nvSpPr>
        <p:spPr>
          <a:xfrm>
            <a:off x="533400" y="45974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7B10487E-5AE2-FC51-C01C-25548FA36AEC}"/>
              </a:ext>
            </a:extLst>
          </p:cNvPr>
          <p:cNvSpPr txBox="1"/>
          <p:nvPr/>
        </p:nvSpPr>
        <p:spPr>
          <a:xfrm>
            <a:off x="711200" y="47498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6.250 TL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BD69C87F-EF73-A548-C7A5-FF031214489E}"/>
              </a:ext>
            </a:extLst>
          </p:cNvPr>
          <p:cNvSpPr/>
          <p:nvPr/>
        </p:nvSpPr>
        <p:spPr>
          <a:xfrm>
            <a:off x="4241800" y="45974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119BA4CC-C285-C4B9-8893-47D6BE4A42D6}"/>
              </a:ext>
            </a:extLst>
          </p:cNvPr>
          <p:cNvSpPr txBox="1"/>
          <p:nvPr/>
        </p:nvSpPr>
        <p:spPr>
          <a:xfrm>
            <a:off x="4419600" y="47498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5.208,33 TL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2A03FE67-8F4F-C871-4109-2D78C2F015EE}"/>
              </a:ext>
            </a:extLst>
          </p:cNvPr>
          <p:cNvSpPr/>
          <p:nvPr/>
        </p:nvSpPr>
        <p:spPr>
          <a:xfrm>
            <a:off x="7950200" y="4597400"/>
            <a:ext cx="37084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5E572BCA-A853-7FA7-B83F-19B374A51BE8}"/>
              </a:ext>
            </a:extLst>
          </p:cNvPr>
          <p:cNvSpPr txBox="1"/>
          <p:nvPr/>
        </p:nvSpPr>
        <p:spPr>
          <a:xfrm>
            <a:off x="8128000" y="4749800"/>
            <a:ext cx="340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1.562,50 TL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787F84A0-D87C-97B1-2F38-B38544094AA6}"/>
              </a:ext>
            </a:extLst>
          </p:cNvPr>
          <p:cNvSpPr txBox="1"/>
          <p:nvPr/>
        </p:nvSpPr>
        <p:spPr>
          <a:xfrm>
            <a:off x="533400" y="5549900"/>
            <a:ext cx="11125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726760"/>
                </a:solidFill>
                <a:latin typeface="Aptos" panose="020B0004020202020204" pitchFamily="34" charset="0"/>
              </a:rPr>
              <a:t>*Müşteri fiyatları %20 KDV dahil varsayılmıştır. Paylar işletmenin kendi vergileri öncesidir. Fiyatlar aynı hizmet kapsamı için alternatiflerdir; nihai fiyat ve kapsam anlaşmada belirlenir.</a:t>
            </a:r>
          </a:p>
        </p:txBody>
      </p:sp>
    </p:spTree>
    <p:extLst>
      <p:ext uri="{BB962C8B-B14F-4D97-AF65-F5344CB8AC3E}">
        <p14:creationId xmlns:p14="http://schemas.microsoft.com/office/powerpoint/2010/main" val="310815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22DD0888-52EA-EF22-9469-B279711CD83D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5.000 TL MÜŞTERİ FİYATI ÖRNEĞİ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DA3E107-5E0F-8992-B282-C58AACF53C39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50 satışta 62.500 TL işletme payı.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DBFDE99-121E-770B-6ED2-F20CBD32FE01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236A4B2-8778-3975-A8EB-581EB103AFE5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9EE4145-5900-738C-E3DA-6BF72058A5B2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A9AEBB4D-196E-57B7-B6F1-BD8D09777E66}"/>
              </a:ext>
            </a:extLst>
          </p:cNvPr>
          <p:cNvSpPr/>
          <p:nvPr/>
        </p:nvSpPr>
        <p:spPr>
          <a:xfrm>
            <a:off x="533400" y="2324100"/>
            <a:ext cx="3835400" cy="29337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77295E3-7CC2-4E2E-6B5E-EDA1AD04A2D8}"/>
              </a:ext>
            </a:extLst>
          </p:cNvPr>
          <p:cNvSpPr txBox="1"/>
          <p:nvPr/>
        </p:nvSpPr>
        <p:spPr>
          <a:xfrm>
            <a:off x="800100" y="2730500"/>
            <a:ext cx="33401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4200" b="1">
                <a:solidFill>
                  <a:srgbClr val="FFFFFF"/>
                </a:solidFill>
                <a:latin typeface="Aptos" panose="020B0004020202020204" pitchFamily="34" charset="0"/>
              </a:rPr>
              <a:t>1.250 TL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728D5D5-0D50-1EFE-3328-87AC2C994AD0}"/>
              </a:ext>
            </a:extLst>
          </p:cNvPr>
          <p:cNvSpPr txBox="1"/>
          <p:nvPr/>
        </p:nvSpPr>
        <p:spPr>
          <a:xfrm>
            <a:off x="800100" y="3771900"/>
            <a:ext cx="330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300">
                <a:solidFill>
                  <a:srgbClr val="FFFFFF"/>
                </a:solidFill>
                <a:latin typeface="Aptos" panose="020B0004020202020204" pitchFamily="34" charset="0"/>
              </a:rPr>
              <a:t>Her ücretli satışta işletmenizin payı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32F3A9B-85E7-7E98-677A-74DB5A253902}"/>
              </a:ext>
            </a:extLst>
          </p:cNvPr>
          <p:cNvSpPr/>
          <p:nvPr/>
        </p:nvSpPr>
        <p:spPr>
          <a:xfrm>
            <a:off x="4724400" y="2324100"/>
            <a:ext cx="3467100" cy="7366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DE1935D-8309-0B94-F09E-14FB8835CD81}"/>
              </a:ext>
            </a:extLst>
          </p:cNvPr>
          <p:cNvSpPr txBox="1"/>
          <p:nvPr/>
        </p:nvSpPr>
        <p:spPr>
          <a:xfrm>
            <a:off x="4902200" y="24765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 b="1">
                <a:solidFill>
                  <a:srgbClr val="FFFFFF"/>
                </a:solidFill>
                <a:latin typeface="Aptos" panose="020B0004020202020204" pitchFamily="34" charset="0"/>
              </a:rPr>
              <a:t>Yıllık ücretli satış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2C847EB-B10B-671B-23FE-0845864C8EAD}"/>
              </a:ext>
            </a:extLst>
          </p:cNvPr>
          <p:cNvSpPr/>
          <p:nvPr/>
        </p:nvSpPr>
        <p:spPr>
          <a:xfrm>
            <a:off x="8191500" y="2324100"/>
            <a:ext cx="3467100" cy="7366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5625DAE5-0A2B-6ED4-AD0B-47B1EE5D1BD1}"/>
              </a:ext>
            </a:extLst>
          </p:cNvPr>
          <p:cNvSpPr txBox="1"/>
          <p:nvPr/>
        </p:nvSpPr>
        <p:spPr>
          <a:xfrm>
            <a:off x="8369300" y="24765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 b="1">
                <a:solidFill>
                  <a:srgbClr val="FFFFFF"/>
                </a:solidFill>
                <a:latin typeface="Aptos" panose="020B0004020202020204" pitchFamily="34" charset="0"/>
              </a:rPr>
              <a:t>İşletme payı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4428706-4E7C-53C8-AC17-150A007C6D58}"/>
              </a:ext>
            </a:extLst>
          </p:cNvPr>
          <p:cNvSpPr/>
          <p:nvPr/>
        </p:nvSpPr>
        <p:spPr>
          <a:xfrm>
            <a:off x="4724400" y="3060700"/>
            <a:ext cx="34671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DB3EF47-6E64-DF39-6303-7736C706840D}"/>
              </a:ext>
            </a:extLst>
          </p:cNvPr>
          <p:cNvSpPr txBox="1"/>
          <p:nvPr/>
        </p:nvSpPr>
        <p:spPr>
          <a:xfrm>
            <a:off x="4902200" y="32131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20 organizasyon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205D8C1-0587-B68D-F935-2FE085B9C7AA}"/>
              </a:ext>
            </a:extLst>
          </p:cNvPr>
          <p:cNvSpPr/>
          <p:nvPr/>
        </p:nvSpPr>
        <p:spPr>
          <a:xfrm>
            <a:off x="8191500" y="3060700"/>
            <a:ext cx="34671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F05721AB-FAAF-DBBC-F1C5-E11FB3E397B6}"/>
              </a:ext>
            </a:extLst>
          </p:cNvPr>
          <p:cNvSpPr txBox="1"/>
          <p:nvPr/>
        </p:nvSpPr>
        <p:spPr>
          <a:xfrm>
            <a:off x="8369300" y="32131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25.000 TL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A677A81-3B98-594F-309A-6FD5E2466D34}"/>
              </a:ext>
            </a:extLst>
          </p:cNvPr>
          <p:cNvSpPr/>
          <p:nvPr/>
        </p:nvSpPr>
        <p:spPr>
          <a:xfrm>
            <a:off x="4724400" y="3797300"/>
            <a:ext cx="3467100" cy="7366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809F31B2-9196-A710-29EF-32A06105C2D7}"/>
              </a:ext>
            </a:extLst>
          </p:cNvPr>
          <p:cNvSpPr txBox="1"/>
          <p:nvPr/>
        </p:nvSpPr>
        <p:spPr>
          <a:xfrm>
            <a:off x="4902200" y="39497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50 organizasyon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F0123345-86EC-7F0F-6350-10999C8FB60C}"/>
              </a:ext>
            </a:extLst>
          </p:cNvPr>
          <p:cNvSpPr/>
          <p:nvPr/>
        </p:nvSpPr>
        <p:spPr>
          <a:xfrm>
            <a:off x="8191500" y="3797300"/>
            <a:ext cx="3467100" cy="7366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F6E8527C-C655-01AA-714F-97BA54722746}"/>
              </a:ext>
            </a:extLst>
          </p:cNvPr>
          <p:cNvSpPr txBox="1"/>
          <p:nvPr/>
        </p:nvSpPr>
        <p:spPr>
          <a:xfrm>
            <a:off x="8369300" y="39497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62.500 TL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F1F47CB-1BC5-E112-3150-AFE0D4E4E896}"/>
              </a:ext>
            </a:extLst>
          </p:cNvPr>
          <p:cNvSpPr/>
          <p:nvPr/>
        </p:nvSpPr>
        <p:spPr>
          <a:xfrm>
            <a:off x="4724400" y="4533900"/>
            <a:ext cx="34671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0F40C52E-DD58-4DD1-930F-7F989DA69046}"/>
              </a:ext>
            </a:extLst>
          </p:cNvPr>
          <p:cNvSpPr txBox="1"/>
          <p:nvPr/>
        </p:nvSpPr>
        <p:spPr>
          <a:xfrm>
            <a:off x="4902200" y="46863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100 organizasyon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21CA10AA-4592-E29A-CAF6-20495017D205}"/>
              </a:ext>
            </a:extLst>
          </p:cNvPr>
          <p:cNvSpPr/>
          <p:nvPr/>
        </p:nvSpPr>
        <p:spPr>
          <a:xfrm>
            <a:off x="8191500" y="4533900"/>
            <a:ext cx="34671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1BBC9625-C8CC-0853-F35C-09BE82E063A5}"/>
              </a:ext>
            </a:extLst>
          </p:cNvPr>
          <p:cNvSpPr txBox="1"/>
          <p:nvPr/>
        </p:nvSpPr>
        <p:spPr>
          <a:xfrm>
            <a:off x="8369300" y="4686300"/>
            <a:ext cx="31623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000">
                <a:solidFill>
                  <a:srgbClr val="292321"/>
                </a:solidFill>
                <a:latin typeface="Aptos" panose="020B0004020202020204" pitchFamily="34" charset="0"/>
              </a:rPr>
              <a:t>125.000 TL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34FBBE9-E043-FBD0-94C7-4F2F3A181C72}"/>
              </a:ext>
            </a:extLst>
          </p:cNvPr>
          <p:cNvSpPr txBox="1"/>
          <p:nvPr/>
        </p:nvSpPr>
        <p:spPr>
          <a:xfrm>
            <a:off x="533400" y="5715000"/>
            <a:ext cx="11125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726760"/>
                </a:solidFill>
                <a:latin typeface="Aptos" panose="020B0004020202020204" pitchFamily="34" charset="0"/>
              </a:rPr>
              <a:t>Örnek satış hacimleridir; satış veya kazanç garantisi değildir. Tutarlar işletmenin kendi vergileri öncesidir.</a:t>
            </a:r>
          </a:p>
        </p:txBody>
      </p:sp>
    </p:spTree>
    <p:extLst>
      <p:ext uri="{BB962C8B-B14F-4D97-AF65-F5344CB8AC3E}">
        <p14:creationId xmlns:p14="http://schemas.microsoft.com/office/powerpoint/2010/main" val="393047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6472014A-8B8E-EA73-24BC-4EDC63492C60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YILLIK KAZANÇ SEÇENEKLERİ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F9FE423-D839-4561-DE77-6370D51BAA99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Satış hacminize göre işletme payınız.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7F8E97E-E54B-AEE1-5528-8307587D9397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DB9C7BB-2CC1-49EF-7AEE-A40B194C1170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BDE923E-DF0D-E359-3A24-CDD3D385A057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9A40B70-7668-9FE6-B447-A6EEE9E9C366}"/>
              </a:ext>
            </a:extLst>
          </p:cNvPr>
          <p:cNvSpPr/>
          <p:nvPr/>
        </p:nvSpPr>
        <p:spPr>
          <a:xfrm>
            <a:off x="533400" y="2476500"/>
            <a:ext cx="2247900" cy="6731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7FA707E-ACEF-69D2-E9DD-3C0694005270}"/>
              </a:ext>
            </a:extLst>
          </p:cNvPr>
          <p:cNvSpPr txBox="1"/>
          <p:nvPr/>
        </p:nvSpPr>
        <p:spPr>
          <a:xfrm>
            <a:off x="711200" y="2628900"/>
            <a:ext cx="1943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Aptos" panose="020B0004020202020204" pitchFamily="34" charset="0"/>
              </a:rPr>
              <a:t>Ücretli satış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C12501F-9A74-A515-0B38-B488FED9ECBC}"/>
              </a:ext>
            </a:extLst>
          </p:cNvPr>
          <p:cNvSpPr/>
          <p:nvPr/>
        </p:nvSpPr>
        <p:spPr>
          <a:xfrm>
            <a:off x="2781300" y="2476500"/>
            <a:ext cx="2959100" cy="6731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37DC6C1B-C339-3B56-13B3-312CABAE8CD6}"/>
              </a:ext>
            </a:extLst>
          </p:cNvPr>
          <p:cNvSpPr txBox="1"/>
          <p:nvPr/>
        </p:nvSpPr>
        <p:spPr>
          <a:xfrm>
            <a:off x="2959100" y="2628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Aptos" panose="020B0004020202020204" pitchFamily="34" charset="0"/>
              </a:rPr>
              <a:t>3.750 TL fiyat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90B12E5-6A45-9253-9216-1C99687C515F}"/>
              </a:ext>
            </a:extLst>
          </p:cNvPr>
          <p:cNvSpPr/>
          <p:nvPr/>
        </p:nvSpPr>
        <p:spPr>
          <a:xfrm>
            <a:off x="5740400" y="2476500"/>
            <a:ext cx="2959100" cy="6731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D724D8D5-0185-E520-DE25-35F09EF42EF3}"/>
              </a:ext>
            </a:extLst>
          </p:cNvPr>
          <p:cNvSpPr txBox="1"/>
          <p:nvPr/>
        </p:nvSpPr>
        <p:spPr>
          <a:xfrm>
            <a:off x="5918200" y="2628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Aptos" panose="020B0004020202020204" pitchFamily="34" charset="0"/>
              </a:rPr>
              <a:t>5.000 TL fiyat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96A2B18-0E40-143A-1EA4-D45E35E171D6}"/>
              </a:ext>
            </a:extLst>
          </p:cNvPr>
          <p:cNvSpPr/>
          <p:nvPr/>
        </p:nvSpPr>
        <p:spPr>
          <a:xfrm>
            <a:off x="8699500" y="2476500"/>
            <a:ext cx="2959100" cy="673100"/>
          </a:xfrm>
          <a:prstGeom prst="rect">
            <a:avLst/>
          </a:prstGeom>
          <a:solidFill>
            <a:srgbClr val="9B29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077FE08D-AD23-C176-D429-44990EA39AA7}"/>
              </a:ext>
            </a:extLst>
          </p:cNvPr>
          <p:cNvSpPr txBox="1"/>
          <p:nvPr/>
        </p:nvSpPr>
        <p:spPr>
          <a:xfrm>
            <a:off x="8877300" y="2628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Aptos" panose="020B0004020202020204" pitchFamily="34" charset="0"/>
              </a:rPr>
              <a:t>6.250 TL fiyat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BA87BDC6-A2E1-DB27-A7A7-DF67C53DF753}"/>
              </a:ext>
            </a:extLst>
          </p:cNvPr>
          <p:cNvSpPr/>
          <p:nvPr/>
        </p:nvSpPr>
        <p:spPr>
          <a:xfrm>
            <a:off x="533400" y="3149600"/>
            <a:ext cx="22479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E27399D0-95DB-9F65-1FCA-7ADDABC52F29}"/>
              </a:ext>
            </a:extLst>
          </p:cNvPr>
          <p:cNvSpPr txBox="1"/>
          <p:nvPr/>
        </p:nvSpPr>
        <p:spPr>
          <a:xfrm>
            <a:off x="711200" y="3302000"/>
            <a:ext cx="1943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62FD7DB-0AF9-6A13-B5B3-6FCE155093BB}"/>
              </a:ext>
            </a:extLst>
          </p:cNvPr>
          <p:cNvSpPr/>
          <p:nvPr/>
        </p:nvSpPr>
        <p:spPr>
          <a:xfrm>
            <a:off x="2781300" y="31496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E351E098-8A1D-DA21-8BF0-FFAD3002AA99}"/>
              </a:ext>
            </a:extLst>
          </p:cNvPr>
          <p:cNvSpPr txBox="1"/>
          <p:nvPr/>
        </p:nvSpPr>
        <p:spPr>
          <a:xfrm>
            <a:off x="2959100" y="33020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18.750 TL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B1BF9EDE-9D77-E39B-B466-834FA5FD9B7B}"/>
              </a:ext>
            </a:extLst>
          </p:cNvPr>
          <p:cNvSpPr/>
          <p:nvPr/>
        </p:nvSpPr>
        <p:spPr>
          <a:xfrm>
            <a:off x="5740400" y="31496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0F0558D-C44E-B2B0-8F5F-71D123B56625}"/>
              </a:ext>
            </a:extLst>
          </p:cNvPr>
          <p:cNvSpPr txBox="1"/>
          <p:nvPr/>
        </p:nvSpPr>
        <p:spPr>
          <a:xfrm>
            <a:off x="5918200" y="33020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25.000 TL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62DA5CC-4CBD-8932-5D22-55A3B0DA9196}"/>
              </a:ext>
            </a:extLst>
          </p:cNvPr>
          <p:cNvSpPr/>
          <p:nvPr/>
        </p:nvSpPr>
        <p:spPr>
          <a:xfrm>
            <a:off x="8699500" y="31496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3B876C76-21D9-D3F9-7E54-D02BE0D49CD8}"/>
              </a:ext>
            </a:extLst>
          </p:cNvPr>
          <p:cNvSpPr txBox="1"/>
          <p:nvPr/>
        </p:nvSpPr>
        <p:spPr>
          <a:xfrm>
            <a:off x="8877300" y="33020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31.250 TL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C6F7229-D7DD-9DD1-7489-688841158BE5}"/>
              </a:ext>
            </a:extLst>
          </p:cNvPr>
          <p:cNvSpPr/>
          <p:nvPr/>
        </p:nvSpPr>
        <p:spPr>
          <a:xfrm>
            <a:off x="533400" y="3822700"/>
            <a:ext cx="2247900" cy="6731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E07F9DE7-8DC0-13ED-F167-CCEDF73D62B0}"/>
              </a:ext>
            </a:extLst>
          </p:cNvPr>
          <p:cNvSpPr txBox="1"/>
          <p:nvPr/>
        </p:nvSpPr>
        <p:spPr>
          <a:xfrm>
            <a:off x="711200" y="3975100"/>
            <a:ext cx="1943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50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05F09CB7-3BD3-7ED5-BA0A-935C08F87375}"/>
              </a:ext>
            </a:extLst>
          </p:cNvPr>
          <p:cNvSpPr/>
          <p:nvPr/>
        </p:nvSpPr>
        <p:spPr>
          <a:xfrm>
            <a:off x="2781300" y="3822700"/>
            <a:ext cx="2959100" cy="6731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562F53B-30F2-BCAF-AEE6-DD799197A285}"/>
              </a:ext>
            </a:extLst>
          </p:cNvPr>
          <p:cNvSpPr txBox="1"/>
          <p:nvPr/>
        </p:nvSpPr>
        <p:spPr>
          <a:xfrm>
            <a:off x="2959100" y="39751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46.875 TL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7554A488-7F7E-98FF-B61E-F49B43D7F873}"/>
              </a:ext>
            </a:extLst>
          </p:cNvPr>
          <p:cNvSpPr/>
          <p:nvPr/>
        </p:nvSpPr>
        <p:spPr>
          <a:xfrm>
            <a:off x="5740400" y="3822700"/>
            <a:ext cx="2959100" cy="6731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58A51AC8-EF15-3485-E522-079C1BFCAABE}"/>
              </a:ext>
            </a:extLst>
          </p:cNvPr>
          <p:cNvSpPr txBox="1"/>
          <p:nvPr/>
        </p:nvSpPr>
        <p:spPr>
          <a:xfrm>
            <a:off x="5918200" y="39751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62.500 TL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2F446865-F99A-D119-4C7B-FFE69DC14CD9}"/>
              </a:ext>
            </a:extLst>
          </p:cNvPr>
          <p:cNvSpPr/>
          <p:nvPr/>
        </p:nvSpPr>
        <p:spPr>
          <a:xfrm>
            <a:off x="8699500" y="3822700"/>
            <a:ext cx="2959100" cy="673100"/>
          </a:xfrm>
          <a:prstGeom prst="rect">
            <a:avLst/>
          </a:prstGeom>
          <a:solidFill>
            <a:srgbClr val="F2E4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05D758EB-45DA-7930-0B81-4A6F775D4646}"/>
              </a:ext>
            </a:extLst>
          </p:cNvPr>
          <p:cNvSpPr txBox="1"/>
          <p:nvPr/>
        </p:nvSpPr>
        <p:spPr>
          <a:xfrm>
            <a:off x="8877300" y="39751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78.125 TL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E10019E2-5A89-A003-966D-58B133B88526}"/>
              </a:ext>
            </a:extLst>
          </p:cNvPr>
          <p:cNvSpPr/>
          <p:nvPr/>
        </p:nvSpPr>
        <p:spPr>
          <a:xfrm>
            <a:off x="533400" y="4495800"/>
            <a:ext cx="22479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5CA2EB7C-E523-E548-E7BA-9CCF12EA3356}"/>
              </a:ext>
            </a:extLst>
          </p:cNvPr>
          <p:cNvSpPr txBox="1"/>
          <p:nvPr/>
        </p:nvSpPr>
        <p:spPr>
          <a:xfrm>
            <a:off x="711200" y="4648200"/>
            <a:ext cx="1943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100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8355D9A1-5707-D911-9C00-CAD9FA37D0F8}"/>
              </a:ext>
            </a:extLst>
          </p:cNvPr>
          <p:cNvSpPr/>
          <p:nvPr/>
        </p:nvSpPr>
        <p:spPr>
          <a:xfrm>
            <a:off x="2781300" y="44958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88052990-8148-2493-335B-C50E1DA0CC63}"/>
              </a:ext>
            </a:extLst>
          </p:cNvPr>
          <p:cNvSpPr txBox="1"/>
          <p:nvPr/>
        </p:nvSpPr>
        <p:spPr>
          <a:xfrm>
            <a:off x="2959100" y="46482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93.750 TL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54031DBC-6113-A377-C2ED-9394C5E169B4}"/>
              </a:ext>
            </a:extLst>
          </p:cNvPr>
          <p:cNvSpPr/>
          <p:nvPr/>
        </p:nvSpPr>
        <p:spPr>
          <a:xfrm>
            <a:off x="5740400" y="44958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54BF939D-38C3-885E-4A86-0C181C1C4995}"/>
              </a:ext>
            </a:extLst>
          </p:cNvPr>
          <p:cNvSpPr txBox="1"/>
          <p:nvPr/>
        </p:nvSpPr>
        <p:spPr>
          <a:xfrm>
            <a:off x="5918200" y="46482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125.000 TL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9FE2B7CC-36FC-D353-B8A2-F2BC6237FEB6}"/>
              </a:ext>
            </a:extLst>
          </p:cNvPr>
          <p:cNvSpPr/>
          <p:nvPr/>
        </p:nvSpPr>
        <p:spPr>
          <a:xfrm>
            <a:off x="8699500" y="4495800"/>
            <a:ext cx="2959100" cy="673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Metin kutusu 37">
            <a:extLst>
              <a:ext uri="{FF2B5EF4-FFF2-40B4-BE49-F238E27FC236}">
                <a16:creationId xmlns:a16="http://schemas.microsoft.com/office/drawing/2014/main" id="{A163DF0E-513E-F523-CF3F-25295E52D5BD}"/>
              </a:ext>
            </a:extLst>
          </p:cNvPr>
          <p:cNvSpPr txBox="1"/>
          <p:nvPr/>
        </p:nvSpPr>
        <p:spPr>
          <a:xfrm>
            <a:off x="8877300" y="46482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>
                <a:solidFill>
                  <a:srgbClr val="292321"/>
                </a:solidFill>
                <a:latin typeface="Aptos" panose="020B0004020202020204" pitchFamily="34" charset="0"/>
              </a:rPr>
              <a:t>156.250 TL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16695816-B0B2-0FDE-7DDB-505D7D176B3D}"/>
              </a:ext>
            </a:extLst>
          </p:cNvPr>
          <p:cNvSpPr txBox="1"/>
          <p:nvPr/>
        </p:nvSpPr>
        <p:spPr>
          <a:xfrm>
            <a:off x="533400" y="5537200"/>
            <a:ext cx="1112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400">
                <a:solidFill>
                  <a:srgbClr val="726760"/>
                </a:solidFill>
                <a:latin typeface="Aptos" panose="020B0004020202020204" pitchFamily="34" charset="0"/>
              </a:rPr>
              <a:t>Yalnızca hizmetin satıldığı organizasyonlar sayılır. Örneğin 100 etkinliğinizin 50'sinde hizmet satılırsa 50 satış satırı geçerlidir. Tutarlar işletmenin %30 payıdır ve kendi vergileri öncesidir.</a:t>
            </a:r>
          </a:p>
        </p:txBody>
      </p:sp>
    </p:spTree>
    <p:extLst>
      <p:ext uri="{BB962C8B-B14F-4D97-AF65-F5344CB8AC3E}">
        <p14:creationId xmlns:p14="http://schemas.microsoft.com/office/powerpoint/2010/main" val="374460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5F3FD89-18AE-8517-2D61-1B23F28D2512}"/>
              </a:ext>
            </a:extLst>
          </p:cNvPr>
          <p:cNvSpPr txBox="1"/>
          <p:nvPr/>
        </p:nvSpPr>
        <p:spPr>
          <a:xfrm>
            <a:off x="533400" y="342900"/>
            <a:ext cx="1104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100" b="1">
                <a:solidFill>
                  <a:srgbClr val="9B292E"/>
                </a:solidFill>
                <a:latin typeface="Aptos" panose="020B0004020202020204" pitchFamily="34" charset="0"/>
              </a:rPr>
              <a:t>BİRLİKTE BAŞLAYALIM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92C7EE8-5DA7-14E6-73FC-618C026465DF}"/>
              </a:ext>
            </a:extLst>
          </p:cNvPr>
          <p:cNvSpPr txBox="1"/>
          <p:nvPr/>
        </p:nvSpPr>
        <p:spPr>
          <a:xfrm>
            <a:off x="533400" y="825500"/>
            <a:ext cx="1117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3100" b="1">
                <a:solidFill>
                  <a:srgbClr val="292321"/>
                </a:solidFill>
                <a:latin typeface="Aptos" panose="020B0004020202020204" pitchFamily="34" charset="0"/>
              </a:rPr>
              <a:t>Bir sonraki organizasyonunuzda ANILAR.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0EC5585-DA40-0CC8-E6A6-5D05C4F6DAFA}"/>
              </a:ext>
            </a:extLst>
          </p:cNvPr>
          <p:cNvSpPr txBox="1"/>
          <p:nvPr/>
        </p:nvSpPr>
        <p:spPr>
          <a:xfrm>
            <a:off x="533400" y="18034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600">
                <a:solidFill>
                  <a:srgbClr val="726760"/>
                </a:solidFill>
                <a:latin typeface="Aptos" panose="020B0004020202020204" pitchFamily="34" charset="0"/>
              </a:rPr>
              <a:t>Hilal &amp; Oğuzhan için hazırlanan baskıyı görüşmede birlikte inceleyelim.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51598BB-3E77-FC22-7EA3-8118C611E774}"/>
              </a:ext>
            </a:extLst>
          </p:cNvPr>
          <p:cNvSpPr/>
          <p:nvPr/>
        </p:nvSpPr>
        <p:spPr>
          <a:xfrm>
            <a:off x="533400" y="6375400"/>
            <a:ext cx="11125200" cy="12700"/>
          </a:xfrm>
          <a:prstGeom prst="rect">
            <a:avLst/>
          </a:prstGeom>
          <a:solidFill>
            <a:srgbClr val="E5DA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D1EF2CE-F6E2-FAD4-89BA-71829DFD3F04}"/>
              </a:ext>
            </a:extLst>
          </p:cNvPr>
          <p:cNvSpPr txBox="1"/>
          <p:nvPr/>
        </p:nvSpPr>
        <p:spPr>
          <a:xfrm>
            <a:off x="533400" y="65024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ANILAR  /  PARTNERLİK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09C36B0-26C6-0B59-E782-2DD39A0FC792}"/>
              </a:ext>
            </a:extLst>
          </p:cNvPr>
          <p:cNvSpPr txBox="1"/>
          <p:nvPr/>
        </p:nvSpPr>
        <p:spPr>
          <a:xfrm>
            <a:off x="11277600" y="65024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900">
                <a:solidFill>
                  <a:srgbClr val="72676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D42DD5A-E672-594A-0EFA-4BDB19CDB035}"/>
              </a:ext>
            </a:extLst>
          </p:cNvPr>
          <p:cNvSpPr txBox="1"/>
          <p:nvPr/>
        </p:nvSpPr>
        <p:spPr>
          <a:xfrm>
            <a:off x="533400" y="2717800"/>
            <a:ext cx="5969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2100" b="1">
                <a:solidFill>
                  <a:srgbClr val="292321"/>
                </a:solidFill>
                <a:latin typeface="Aptos" panose="020B0004020202020204" pitchFamily="34" charset="0"/>
              </a:rPr>
              <a:t>01  Fiziksel QR baskısını inceleyelim.</a:t>
            </a:r>
          </a:p>
          <a:p>
            <a:endParaRPr lang="tr-TR" sz="2100" b="1">
              <a:solidFill>
                <a:srgbClr val="292321"/>
              </a:solidFill>
              <a:latin typeface="Aptos" panose="020B0004020202020204" pitchFamily="34" charset="0"/>
            </a:endParaRPr>
          </a:p>
          <a:p>
            <a:r>
              <a:rPr lang="tr-TR" sz="2100" b="1">
                <a:solidFill>
                  <a:srgbClr val="292321"/>
                </a:solidFill>
                <a:latin typeface="Aptos" panose="020B0004020202020204" pitchFamily="34" charset="0"/>
              </a:rPr>
              <a:t>02  Ürün demosunu birlikte görelim.</a:t>
            </a:r>
          </a:p>
          <a:p>
            <a:endParaRPr lang="tr-TR" sz="2100" b="1">
              <a:solidFill>
                <a:srgbClr val="292321"/>
              </a:solidFill>
              <a:latin typeface="Aptos" panose="020B0004020202020204" pitchFamily="34" charset="0"/>
            </a:endParaRPr>
          </a:p>
          <a:p>
            <a:r>
              <a:rPr lang="tr-TR" sz="2100" b="1">
                <a:solidFill>
                  <a:srgbClr val="292321"/>
                </a:solidFill>
                <a:latin typeface="Aptos" panose="020B0004020202020204" pitchFamily="34" charset="0"/>
              </a:rPr>
              <a:t>03  İlk organizasyonun fiyat ve kapsamını belirleyelim.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6C2BC084-153B-86F9-613B-B3AD7A3DAB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2760436"/>
            <a:ext cx="4673600" cy="2670629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A263035F-A764-E17B-5A3C-3F27CB3E8703}"/>
              </a:ext>
            </a:extLst>
          </p:cNvPr>
          <p:cNvSpPr txBox="1"/>
          <p:nvPr/>
        </p:nvSpPr>
        <p:spPr>
          <a:xfrm>
            <a:off x="533400" y="58420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r-TR" sz="1300">
                <a:solidFill>
                  <a:srgbClr val="726760"/>
                </a:solidFill>
                <a:latin typeface="Aptos" panose="020B0004020202020204" pitchFamily="34" charset="0"/>
              </a:rPr>
              <a:t>Anlaşma başlıkları: baskı adedi ve teslimat, tahsilat/faturalama, işletme payının ödeme zamanı, iptal ve iade.</a:t>
            </a:r>
          </a:p>
        </p:txBody>
      </p:sp>
    </p:spTree>
    <p:extLst>
      <p:ext uri="{BB962C8B-B14F-4D97-AF65-F5344CB8AC3E}">
        <p14:creationId xmlns:p14="http://schemas.microsoft.com/office/powerpoint/2010/main" val="3115374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Özel</PresentationFormat>
  <Paragraphs>132</Paragraphs>
  <Slides>10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onurturgut@posta.mu.edu.tr</dc:creator>
  <cp:lastModifiedBy>onurturgut@posta.mu.edu.tr</cp:lastModifiedBy>
  <cp:revision>1</cp:revision>
  <dcterms:created xsi:type="dcterms:W3CDTF">2026-09-23T22:32:31Z</dcterms:created>
  <dcterms:modified xsi:type="dcterms:W3CDTF">2026-09-23T22:32:31Z</dcterms:modified>
</cp:coreProperties>
</file>